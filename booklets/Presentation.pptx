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Montserrat" charset="1" panose="00000500000000000000"/>
      <p:regular r:id="rId19"/>
    </p:embeddedFont>
    <p:embeddedFont>
      <p:font typeface="Montserrat Ultra-Bold" charset="1" panose="00000900000000000000"/>
      <p:regular r:id="rId20"/>
    </p:embeddedFont>
    <p:embeddedFont>
      <p:font typeface="Montserrat Italics" charset="1" panose="00000500000000000000"/>
      <p:regular r:id="rId21"/>
    </p:embeddedFont>
    <p:embeddedFont>
      <p:font typeface="Montserrat Bold" charset="1" panose="00000800000000000000"/>
      <p:regular r:id="rId22"/>
    </p:embeddedFont>
    <p:embeddedFont>
      <p:font typeface="Arimo" charset="1" panose="020B0604020202020204"/>
      <p:regular r:id="rId23"/>
    </p:embeddedFont>
    <p:embeddedFont>
      <p:font typeface="Arimo Bold" charset="1" panose="020B070402020202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grpSp>
        <p:nvGrpSpPr>
          <p:cNvPr name="Group 2" id="2"/>
          <p:cNvGrpSpPr/>
          <p:nvPr/>
        </p:nvGrpSpPr>
        <p:grpSpPr>
          <a:xfrm rot="0">
            <a:off x="10081510" y="4107958"/>
            <a:ext cx="8206490" cy="3282625"/>
            <a:chOff x="0" y="0"/>
            <a:chExt cx="10941987" cy="4376833"/>
          </a:xfrm>
        </p:grpSpPr>
        <p:pic>
          <p:nvPicPr>
            <p:cNvPr name="Picture 3" id="3"/>
            <p:cNvPicPr>
              <a:picLocks noChangeAspect="true"/>
            </p:cNvPicPr>
            <p:nvPr/>
          </p:nvPicPr>
          <p:blipFill>
            <a:blip r:embed="rId2"/>
            <a:srcRect l="0" t="1806" r="0" b="1806"/>
            <a:stretch>
              <a:fillRect/>
            </a:stretch>
          </p:blipFill>
          <p:spPr>
            <a:xfrm flipH="false" flipV="false">
              <a:off x="0" y="0"/>
              <a:ext cx="10941987" cy="4376833"/>
            </a:xfrm>
            <a:prstGeom prst="rect">
              <a:avLst/>
            </a:prstGeom>
          </p:spPr>
        </p:pic>
      </p:grpSp>
      <p:sp>
        <p:nvSpPr>
          <p:cNvPr name="AutoShape 4" id="4"/>
          <p:cNvSpPr/>
          <p:nvPr/>
        </p:nvSpPr>
        <p:spPr>
          <a:xfrm rot="0">
            <a:off x="6724932" y="7013865"/>
            <a:ext cx="5268798" cy="0"/>
          </a:xfrm>
          <a:prstGeom prst="line">
            <a:avLst/>
          </a:prstGeom>
          <a:ln cap="rnd" w="28575">
            <a:solidFill>
              <a:srgbClr val="FFFFFF"/>
            </a:solidFill>
            <a:prstDash val="solid"/>
            <a:headEnd type="none" len="sm" w="sm"/>
            <a:tailEnd type="none" len="sm" w="sm"/>
          </a:ln>
        </p:spPr>
      </p:sp>
      <p:sp>
        <p:nvSpPr>
          <p:cNvPr name="Freeform 5" id="5"/>
          <p:cNvSpPr/>
          <p:nvPr/>
        </p:nvSpPr>
        <p:spPr>
          <a:xfrm flipH="false" flipV="false" rot="0">
            <a:off x="940079" y="572271"/>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6208030" y="7554302"/>
            <a:ext cx="1463309" cy="1703998"/>
          </a:xfrm>
          <a:custGeom>
            <a:avLst/>
            <a:gdLst/>
            <a:ahLst/>
            <a:cxnLst/>
            <a:rect r="r" b="b" t="t" l="l"/>
            <a:pathLst>
              <a:path h="1703998" w="1463309">
                <a:moveTo>
                  <a:pt x="0" y="0"/>
                </a:moveTo>
                <a:lnTo>
                  <a:pt x="1463308" y="0"/>
                </a:lnTo>
                <a:lnTo>
                  <a:pt x="1463308" y="1703998"/>
                </a:lnTo>
                <a:lnTo>
                  <a:pt x="0" y="17039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671734" y="7791683"/>
            <a:ext cx="5784866" cy="885339"/>
          </a:xfrm>
          <a:prstGeom prst="rect">
            <a:avLst/>
          </a:prstGeom>
        </p:spPr>
        <p:txBody>
          <a:bodyPr anchor="t" rtlCol="false" tIns="0" lIns="0" bIns="0" rIns="0">
            <a:spAutoFit/>
          </a:bodyPr>
          <a:lstStyle/>
          <a:p>
            <a:pPr algn="l">
              <a:lnSpc>
                <a:spcPts val="3408"/>
              </a:lnSpc>
            </a:pPr>
            <a:r>
              <a:rPr lang="en-US" sz="3477" spc="-69">
                <a:solidFill>
                  <a:srgbClr val="FFFFFF"/>
                </a:solidFill>
                <a:latin typeface="Montserrat"/>
                <a:ea typeface="Montserrat"/>
                <a:cs typeface="Montserrat"/>
                <a:sym typeface="Montserrat"/>
              </a:rPr>
              <a:t>Angelo Pio Pompeo</a:t>
            </a:r>
          </a:p>
          <a:p>
            <a:pPr algn="l">
              <a:lnSpc>
                <a:spcPts val="3408"/>
              </a:lnSpc>
            </a:pPr>
            <a:r>
              <a:rPr lang="en-US" sz="3477" spc="-69">
                <a:solidFill>
                  <a:srgbClr val="FFFFFF"/>
                </a:solidFill>
                <a:latin typeface="Montserrat"/>
                <a:ea typeface="Montserrat"/>
                <a:cs typeface="Montserrat"/>
                <a:sym typeface="Montserrat"/>
              </a:rPr>
              <a:t>Alessandro Nese</a:t>
            </a:r>
          </a:p>
        </p:txBody>
      </p:sp>
      <p:sp>
        <p:nvSpPr>
          <p:cNvPr name="TextBox 8" id="8"/>
          <p:cNvSpPr txBox="true"/>
          <p:nvPr/>
        </p:nvSpPr>
        <p:spPr>
          <a:xfrm rot="0">
            <a:off x="1671734" y="3111179"/>
            <a:ext cx="10106397" cy="4279404"/>
          </a:xfrm>
          <a:prstGeom prst="rect">
            <a:avLst/>
          </a:prstGeom>
        </p:spPr>
        <p:txBody>
          <a:bodyPr anchor="t" rtlCol="false" tIns="0" lIns="0" bIns="0" rIns="0">
            <a:spAutoFit/>
          </a:bodyPr>
          <a:lstStyle/>
          <a:p>
            <a:pPr algn="l">
              <a:lnSpc>
                <a:spcPts val="8369"/>
              </a:lnSpc>
            </a:pPr>
            <a:r>
              <a:rPr lang="en-US" b="true" sz="8539" spc="-170">
                <a:solidFill>
                  <a:srgbClr val="FFFFFF"/>
                </a:solidFill>
                <a:latin typeface="Montserrat Ultra-Bold"/>
                <a:ea typeface="Montserrat Ultra-Bold"/>
                <a:cs typeface="Montserrat Ultra-Bold"/>
                <a:sym typeface="Montserrat Ultra-Bold"/>
              </a:rPr>
              <a:t>INVENTORY</a:t>
            </a:r>
          </a:p>
          <a:p>
            <a:pPr algn="l">
              <a:lnSpc>
                <a:spcPts val="8369"/>
              </a:lnSpc>
            </a:pPr>
            <a:r>
              <a:rPr lang="en-US" b="true" sz="8539" spc="-170">
                <a:solidFill>
                  <a:srgbClr val="FFFFFF"/>
                </a:solidFill>
                <a:latin typeface="Montserrat Ultra-Bold"/>
                <a:ea typeface="Montserrat Ultra-Bold"/>
                <a:cs typeface="Montserrat Ultra-Bold"/>
                <a:sym typeface="Montserrat Ultra-Bold"/>
              </a:rPr>
              <a:t>LABORATORY</a:t>
            </a:r>
          </a:p>
          <a:p>
            <a:pPr algn="l">
              <a:lnSpc>
                <a:spcPts val="8369"/>
              </a:lnSpc>
            </a:pPr>
            <a:r>
              <a:rPr lang="en-US" b="true" sz="8539" spc="-170">
                <a:solidFill>
                  <a:srgbClr val="FFFFFF"/>
                </a:solidFill>
                <a:latin typeface="Montserrat Ultra-Bold"/>
                <a:ea typeface="Montserrat Ultra-Bold"/>
                <a:cs typeface="Montserrat Ultra-Bold"/>
                <a:sym typeface="Montserrat Ultra-Bold"/>
              </a:rPr>
              <a:t>MANAGEMENT </a:t>
            </a:r>
          </a:p>
          <a:p>
            <a:pPr algn="l">
              <a:lnSpc>
                <a:spcPts val="8369"/>
              </a:lnSpc>
            </a:pPr>
            <a:r>
              <a:rPr lang="en-US" b="true" sz="8539" spc="-170">
                <a:solidFill>
                  <a:srgbClr val="FFFFFF"/>
                </a:solidFill>
                <a:latin typeface="Montserrat Ultra-Bold"/>
                <a:ea typeface="Montserrat Ultra-Bold"/>
                <a:cs typeface="Montserrat Ultra-Bold"/>
                <a:sym typeface="Montserrat Ultra-Bold"/>
              </a:rPr>
              <a:t>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Freeform 2" id="2"/>
          <p:cNvSpPr/>
          <p:nvPr/>
        </p:nvSpPr>
        <p:spPr>
          <a:xfrm flipH="true" flipV="false" rot="0">
            <a:off x="13478232" y="1424270"/>
            <a:ext cx="4806700" cy="4806700"/>
          </a:xfrm>
          <a:custGeom>
            <a:avLst/>
            <a:gdLst/>
            <a:ahLst/>
            <a:cxnLst/>
            <a:rect r="r" b="b" t="t" l="l"/>
            <a:pathLst>
              <a:path h="4806700" w="4806700">
                <a:moveTo>
                  <a:pt x="4806699" y="0"/>
                </a:moveTo>
                <a:lnTo>
                  <a:pt x="0" y="0"/>
                </a:lnTo>
                <a:lnTo>
                  <a:pt x="0" y="4806699"/>
                </a:lnTo>
                <a:lnTo>
                  <a:pt x="4806699" y="4806699"/>
                </a:lnTo>
                <a:lnTo>
                  <a:pt x="480669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90879" y="1438557"/>
            <a:ext cx="1463309" cy="1703998"/>
          </a:xfrm>
          <a:custGeom>
            <a:avLst/>
            <a:gdLst/>
            <a:ahLst/>
            <a:cxnLst/>
            <a:rect r="r" b="b" t="t" l="l"/>
            <a:pathLst>
              <a:path h="1703998" w="1463309">
                <a:moveTo>
                  <a:pt x="0" y="0"/>
                </a:moveTo>
                <a:lnTo>
                  <a:pt x="1463309" y="0"/>
                </a:lnTo>
                <a:lnTo>
                  <a:pt x="1463309" y="1703999"/>
                </a:lnTo>
                <a:lnTo>
                  <a:pt x="0" y="17039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22189" y="7624227"/>
            <a:ext cx="1463309" cy="1703998"/>
          </a:xfrm>
          <a:custGeom>
            <a:avLst/>
            <a:gdLst/>
            <a:ahLst/>
            <a:cxnLst/>
            <a:rect r="r" b="b" t="t" l="l"/>
            <a:pathLst>
              <a:path h="1703998" w="1463309">
                <a:moveTo>
                  <a:pt x="0" y="0"/>
                </a:moveTo>
                <a:lnTo>
                  <a:pt x="1463308" y="0"/>
                </a:lnTo>
                <a:lnTo>
                  <a:pt x="1463308" y="1703998"/>
                </a:lnTo>
                <a:lnTo>
                  <a:pt x="0" y="17039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549506" y="2357988"/>
            <a:ext cx="9647348" cy="784567"/>
          </a:xfrm>
          <a:prstGeom prst="rect">
            <a:avLst/>
          </a:prstGeom>
        </p:spPr>
        <p:txBody>
          <a:bodyPr anchor="t" rtlCol="false" tIns="0" lIns="0" bIns="0" rIns="0">
            <a:spAutoFit/>
          </a:bodyPr>
          <a:lstStyle/>
          <a:p>
            <a:pPr algn="l">
              <a:lnSpc>
                <a:spcPts val="5813"/>
              </a:lnSpc>
            </a:pPr>
            <a:r>
              <a:rPr lang="en-US" b="true" sz="5931" spc="-118">
                <a:solidFill>
                  <a:srgbClr val="FFFFFF"/>
                </a:solidFill>
                <a:latin typeface="Montserrat Ultra-Bold"/>
                <a:ea typeface="Montserrat Ultra-Bold"/>
                <a:cs typeface="Montserrat Ultra-Bold"/>
                <a:sym typeface="Montserrat Ultra-Bold"/>
              </a:rPr>
              <a:t>PROJECT OVERVIEW</a:t>
            </a:r>
          </a:p>
        </p:txBody>
      </p:sp>
      <p:sp>
        <p:nvSpPr>
          <p:cNvPr name="AutoShape 6" id="6"/>
          <p:cNvSpPr/>
          <p:nvPr/>
        </p:nvSpPr>
        <p:spPr>
          <a:xfrm rot="0">
            <a:off x="12372216" y="1409982"/>
            <a:ext cx="5268798" cy="0"/>
          </a:xfrm>
          <a:prstGeom prst="line">
            <a:avLst/>
          </a:prstGeom>
          <a:ln cap="rnd" w="28575">
            <a:solidFill>
              <a:srgbClr val="FFFFFF"/>
            </a:solidFill>
            <a:prstDash val="solid"/>
            <a:headEnd type="none" len="sm" w="sm"/>
            <a:tailEnd type="none" len="sm" w="sm"/>
          </a:ln>
        </p:spPr>
      </p:sp>
      <p:sp>
        <p:nvSpPr>
          <p:cNvPr name="AutoShape 7" id="7"/>
          <p:cNvSpPr/>
          <p:nvPr/>
        </p:nvSpPr>
        <p:spPr>
          <a:xfrm rot="0">
            <a:off x="1028700" y="9258300"/>
            <a:ext cx="5268798" cy="0"/>
          </a:xfrm>
          <a:prstGeom prst="line">
            <a:avLst/>
          </a:prstGeom>
          <a:ln cap="rnd" w="28575">
            <a:solidFill>
              <a:srgbClr val="FFFFFF"/>
            </a:solidFill>
            <a:prstDash val="solid"/>
            <a:headEnd type="none" len="sm" w="sm"/>
            <a:tailEnd type="none" len="sm" w="sm"/>
          </a:ln>
        </p:spPr>
      </p:sp>
      <p:grpSp>
        <p:nvGrpSpPr>
          <p:cNvPr name="Group 8" id="8"/>
          <p:cNvGrpSpPr/>
          <p:nvPr/>
        </p:nvGrpSpPr>
        <p:grpSpPr>
          <a:xfrm rot="0">
            <a:off x="1522534" y="3952181"/>
            <a:ext cx="14359048" cy="5194300"/>
            <a:chOff x="0" y="0"/>
            <a:chExt cx="19145397" cy="6925733"/>
          </a:xfrm>
        </p:grpSpPr>
        <p:sp>
          <p:nvSpPr>
            <p:cNvPr name="TextBox 9" id="9"/>
            <p:cNvSpPr txBox="true"/>
            <p:nvPr/>
          </p:nvSpPr>
          <p:spPr>
            <a:xfrm rot="0">
              <a:off x="0" y="-38100"/>
              <a:ext cx="19145397" cy="6963833"/>
            </a:xfrm>
            <a:prstGeom prst="rect">
              <a:avLst/>
            </a:prstGeom>
          </p:spPr>
          <p:txBody>
            <a:bodyPr anchor="t" rtlCol="false" tIns="0" lIns="0" bIns="0" rIns="0">
              <a:spAutoFit/>
            </a:bodyPr>
            <a:lstStyle/>
            <a:p>
              <a:pPr algn="l">
                <a:lnSpc>
                  <a:spcPts val="3499"/>
                </a:lnSpc>
              </a:pPr>
              <a:r>
                <a:rPr lang="en-US" sz="2499" spc="-49">
                  <a:solidFill>
                    <a:srgbClr val="FFFFFF"/>
                  </a:solidFill>
                  <a:latin typeface="Montserrat"/>
                  <a:ea typeface="Montserrat"/>
                  <a:cs typeface="Montserrat"/>
                  <a:sym typeface="Montserrat"/>
                </a:rPr>
                <a:t>     Designed to improve the management and control of resources used in research projects across Sapienza’s Research Departments, ensuring greater operational efficiency and reducing waste</a:t>
              </a:r>
            </a:p>
            <a:p>
              <a:pPr algn="l">
                <a:lnSpc>
                  <a:spcPts val="3499"/>
                </a:lnSpc>
              </a:pPr>
              <a:r>
                <a:rPr lang="en-US" sz="2499" spc="-49">
                  <a:solidFill>
                    <a:srgbClr val="FFFFFF"/>
                  </a:solidFill>
                  <a:latin typeface="Montserrat"/>
                  <a:ea typeface="Montserrat"/>
                  <a:cs typeface="Montserrat"/>
                  <a:sym typeface="Montserrat"/>
                </a:rPr>
                <a:t>    The primary objective is to create an intuitive and functional tool that allows real-time stock monitoring and simplifies communication among laboratory members</a:t>
              </a:r>
            </a:p>
            <a:p>
              <a:pPr algn="l">
                <a:lnSpc>
                  <a:spcPts val="3499"/>
                </a:lnSpc>
              </a:pPr>
            </a:p>
            <a:p>
              <a:pPr algn="l">
                <a:lnSpc>
                  <a:spcPts val="3499"/>
                </a:lnSpc>
              </a:pPr>
              <a:r>
                <a:rPr lang="en-US" sz="2499" spc="-49">
                  <a:solidFill>
                    <a:srgbClr val="FFFFFF"/>
                  </a:solidFill>
                  <a:latin typeface="Montserrat"/>
                  <a:ea typeface="Montserrat"/>
                  <a:cs typeface="Montserrat"/>
                  <a:sym typeface="Montserrat"/>
                </a:rPr>
                <a:t>     The system will be a fundamental tool for improving resource management in research laboratories, making operations more organized and ensuring that every laboratory member has access to the information needed to carry out their work efficiently</a:t>
              </a:r>
            </a:p>
            <a:p>
              <a:pPr algn="l">
                <a:lnSpc>
                  <a:spcPts val="3499"/>
                </a:lnSpc>
              </a:pPr>
            </a:p>
            <a:p>
              <a:pPr algn="l">
                <a:lnSpc>
                  <a:spcPts val="3499"/>
                </a:lnSpc>
              </a:pPr>
            </a:p>
            <a:p>
              <a:pPr algn="ctr">
                <a:lnSpc>
                  <a:spcPts val="3499"/>
                </a:lnSpc>
                <a:spcBef>
                  <a:spcPct val="0"/>
                </a:spcBef>
              </a:pPr>
            </a:p>
          </p:txBody>
        </p:sp>
        <p:grpSp>
          <p:nvGrpSpPr>
            <p:cNvPr name="Group 10" id="10"/>
            <p:cNvGrpSpPr/>
            <p:nvPr/>
          </p:nvGrpSpPr>
          <p:grpSpPr>
            <a:xfrm rot="0">
              <a:off x="0" y="114682"/>
              <a:ext cx="307545" cy="307545"/>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9F17"/>
              </a:solidFill>
            </p:spPr>
          </p:sp>
        </p:grpSp>
        <p:grpSp>
          <p:nvGrpSpPr>
            <p:cNvPr name="Group 12" id="12"/>
            <p:cNvGrpSpPr/>
            <p:nvPr/>
          </p:nvGrpSpPr>
          <p:grpSpPr>
            <a:xfrm rot="0">
              <a:off x="0" y="1860193"/>
              <a:ext cx="307545" cy="307545"/>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9F17"/>
              </a:solidFill>
            </p:spPr>
          </p:sp>
        </p:grpSp>
        <p:grpSp>
          <p:nvGrpSpPr>
            <p:cNvPr name="Group 14" id="14"/>
            <p:cNvGrpSpPr/>
            <p:nvPr/>
          </p:nvGrpSpPr>
          <p:grpSpPr>
            <a:xfrm rot="0">
              <a:off x="0" y="3595608"/>
              <a:ext cx="307545" cy="307545"/>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9F17"/>
              </a:solidFill>
            </p:spPr>
          </p:sp>
        </p:gr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Freeform 2" id="2"/>
          <p:cNvSpPr/>
          <p:nvPr/>
        </p:nvSpPr>
        <p:spPr>
          <a:xfrm flipH="false" flipV="false" rot="0">
            <a:off x="-1708909" y="2740150"/>
            <a:ext cx="4806700" cy="4806700"/>
          </a:xfrm>
          <a:custGeom>
            <a:avLst/>
            <a:gdLst/>
            <a:ahLst/>
            <a:cxnLst/>
            <a:rect r="r" b="b" t="t" l="l"/>
            <a:pathLst>
              <a:path h="4806700" w="4806700">
                <a:moveTo>
                  <a:pt x="0" y="0"/>
                </a:moveTo>
                <a:lnTo>
                  <a:pt x="4806699" y="0"/>
                </a:lnTo>
                <a:lnTo>
                  <a:pt x="4806699" y="4806700"/>
                </a:lnTo>
                <a:lnTo>
                  <a:pt x="0" y="48067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94517" y="795833"/>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22189" y="7624227"/>
            <a:ext cx="1463309" cy="1703998"/>
          </a:xfrm>
          <a:custGeom>
            <a:avLst/>
            <a:gdLst/>
            <a:ahLst/>
            <a:cxnLst/>
            <a:rect r="r" b="b" t="t" l="l"/>
            <a:pathLst>
              <a:path h="1703998" w="1463309">
                <a:moveTo>
                  <a:pt x="0" y="0"/>
                </a:moveTo>
                <a:lnTo>
                  <a:pt x="1463308" y="0"/>
                </a:lnTo>
                <a:lnTo>
                  <a:pt x="1463308" y="1703998"/>
                </a:lnTo>
                <a:lnTo>
                  <a:pt x="0" y="17039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50854" y="3634562"/>
            <a:ext cx="6344197" cy="1335586"/>
          </a:xfrm>
          <a:prstGeom prst="rect">
            <a:avLst/>
          </a:prstGeom>
        </p:spPr>
        <p:txBody>
          <a:bodyPr anchor="t" rtlCol="false" tIns="0" lIns="0" bIns="0" rIns="0">
            <a:spAutoFit/>
          </a:bodyPr>
          <a:lstStyle/>
          <a:p>
            <a:pPr algn="l">
              <a:lnSpc>
                <a:spcPts val="5196"/>
              </a:lnSpc>
            </a:pPr>
            <a:r>
              <a:rPr lang="en-US" b="true" sz="5302" spc="-106">
                <a:solidFill>
                  <a:srgbClr val="FFFFFF"/>
                </a:solidFill>
                <a:latin typeface="Montserrat Ultra-Bold"/>
                <a:ea typeface="Montserrat Ultra-Bold"/>
                <a:cs typeface="Montserrat Ultra-Bold"/>
                <a:sym typeface="Montserrat Ultra-Bold"/>
              </a:rPr>
              <a:t>PRIMARY</a:t>
            </a:r>
          </a:p>
          <a:p>
            <a:pPr algn="l">
              <a:lnSpc>
                <a:spcPts val="5196"/>
              </a:lnSpc>
            </a:pPr>
            <a:r>
              <a:rPr lang="en-US" b="true" sz="5302" spc="-106">
                <a:solidFill>
                  <a:srgbClr val="FFFFFF"/>
                </a:solidFill>
                <a:latin typeface="Montserrat Ultra-Bold"/>
                <a:ea typeface="Montserrat Ultra-Bold"/>
                <a:cs typeface="Montserrat Ultra-Bold"/>
                <a:sym typeface="Montserrat Ultra-Bold"/>
              </a:rPr>
              <a:t>USE CASES</a:t>
            </a:r>
          </a:p>
        </p:txBody>
      </p:sp>
      <p:sp>
        <p:nvSpPr>
          <p:cNvPr name="AutoShape 6" id="6"/>
          <p:cNvSpPr/>
          <p:nvPr/>
        </p:nvSpPr>
        <p:spPr>
          <a:xfrm rot="0">
            <a:off x="12372216" y="1409982"/>
            <a:ext cx="5268798" cy="0"/>
          </a:xfrm>
          <a:prstGeom prst="line">
            <a:avLst/>
          </a:prstGeom>
          <a:ln cap="rnd" w="28575">
            <a:solidFill>
              <a:srgbClr val="FFFFFF"/>
            </a:solidFill>
            <a:prstDash val="solid"/>
            <a:headEnd type="none" len="sm" w="sm"/>
            <a:tailEnd type="none" len="sm" w="sm"/>
          </a:ln>
        </p:spPr>
      </p:sp>
      <p:sp>
        <p:nvSpPr>
          <p:cNvPr name="AutoShape 7" id="7"/>
          <p:cNvSpPr/>
          <p:nvPr/>
        </p:nvSpPr>
        <p:spPr>
          <a:xfrm rot="0">
            <a:off x="1028700" y="9258300"/>
            <a:ext cx="5268798" cy="0"/>
          </a:xfrm>
          <a:prstGeom prst="line">
            <a:avLst/>
          </a:prstGeom>
          <a:ln cap="rnd" w="28575">
            <a:solidFill>
              <a:srgbClr val="FFFFFF"/>
            </a:solidFill>
            <a:prstDash val="solid"/>
            <a:headEnd type="none" len="sm" w="sm"/>
            <a:tailEnd type="none" len="sm" w="sm"/>
          </a:ln>
        </p:spPr>
      </p:sp>
      <p:grpSp>
        <p:nvGrpSpPr>
          <p:cNvPr name="Group 8" id="8"/>
          <p:cNvGrpSpPr/>
          <p:nvPr/>
        </p:nvGrpSpPr>
        <p:grpSpPr>
          <a:xfrm rot="0">
            <a:off x="6297498" y="2740150"/>
            <a:ext cx="10947262" cy="5632450"/>
            <a:chOff x="0" y="0"/>
            <a:chExt cx="14596350" cy="7509933"/>
          </a:xfrm>
        </p:grpSpPr>
        <p:sp>
          <p:nvSpPr>
            <p:cNvPr name="TextBox 9" id="9"/>
            <p:cNvSpPr txBox="true"/>
            <p:nvPr/>
          </p:nvSpPr>
          <p:spPr>
            <a:xfrm rot="0">
              <a:off x="0" y="-38100"/>
              <a:ext cx="14596350" cy="7548033"/>
            </a:xfrm>
            <a:prstGeom prst="rect">
              <a:avLst/>
            </a:prstGeom>
          </p:spPr>
          <p:txBody>
            <a:bodyPr anchor="t" rtlCol="false" tIns="0" lIns="0" bIns="0" rIns="0">
              <a:spAutoFit/>
            </a:bodyPr>
            <a:lstStyle/>
            <a:p>
              <a:pPr algn="l">
                <a:lnSpc>
                  <a:spcPts val="3499"/>
                </a:lnSpc>
              </a:pPr>
              <a:r>
                <a:rPr lang="en-US" sz="2499" spc="-49">
                  <a:solidFill>
                    <a:srgbClr val="FFFFFF"/>
                  </a:solidFill>
                  <a:latin typeface="Montserrat"/>
                  <a:ea typeface="Montserrat"/>
                  <a:cs typeface="Montserrat"/>
                  <a:sym typeface="Montserrat"/>
                </a:rPr>
                <a:t>     The lab manager configures the platform to meet the laboratory's specific needs </a:t>
              </a:r>
            </a:p>
            <a:p>
              <a:pPr algn="l">
                <a:lnSpc>
                  <a:spcPts val="3499"/>
                </a:lnSpc>
              </a:pPr>
            </a:p>
            <a:p>
              <a:pPr algn="l">
                <a:lnSpc>
                  <a:spcPts val="3499"/>
                </a:lnSpc>
              </a:pPr>
              <a:r>
                <a:rPr lang="en-US" sz="2499" spc="-49">
                  <a:solidFill>
                    <a:srgbClr val="FFFFFF"/>
                  </a:solidFill>
                  <a:latin typeface="Montserrat"/>
                  <a:ea typeface="Montserrat"/>
                  <a:cs typeface="Montserrat"/>
                  <a:sym typeface="Montserrat"/>
                </a:rPr>
                <a:t>     Researchers update the system to reflect material usage during daily activities</a:t>
              </a:r>
            </a:p>
            <a:p>
              <a:pPr algn="l">
                <a:lnSpc>
                  <a:spcPts val="3499"/>
                </a:lnSpc>
              </a:pPr>
            </a:p>
            <a:p>
              <a:pPr algn="l">
                <a:lnSpc>
                  <a:spcPts val="3499"/>
                </a:lnSpc>
              </a:pPr>
              <a:r>
                <a:rPr lang="en-US" sz="2499" spc="-49">
                  <a:solidFill>
                    <a:srgbClr val="FFFFFF"/>
                  </a:solidFill>
                  <a:latin typeface="Montserrat"/>
                  <a:ea typeface="Montserrat"/>
                  <a:cs typeface="Montserrat"/>
                  <a:sym typeface="Montserrat"/>
                </a:rPr>
                <a:t>     Researchers submit requests for unavailable materials or report damaged equipment, allowing the lab manager to address issues promptly</a:t>
              </a:r>
            </a:p>
            <a:p>
              <a:pPr algn="l">
                <a:lnSpc>
                  <a:spcPts val="3499"/>
                </a:lnSpc>
              </a:pPr>
            </a:p>
            <a:p>
              <a:pPr algn="l">
                <a:lnSpc>
                  <a:spcPts val="3499"/>
                </a:lnSpc>
              </a:pPr>
            </a:p>
            <a:p>
              <a:pPr algn="l">
                <a:lnSpc>
                  <a:spcPts val="3499"/>
                </a:lnSpc>
              </a:pPr>
            </a:p>
            <a:p>
              <a:pPr algn="ctr">
                <a:lnSpc>
                  <a:spcPts val="3499"/>
                </a:lnSpc>
                <a:spcBef>
                  <a:spcPct val="0"/>
                </a:spcBef>
              </a:pPr>
            </a:p>
          </p:txBody>
        </p:sp>
        <p:grpSp>
          <p:nvGrpSpPr>
            <p:cNvPr name="Group 10" id="10"/>
            <p:cNvGrpSpPr/>
            <p:nvPr/>
          </p:nvGrpSpPr>
          <p:grpSpPr>
            <a:xfrm rot="0">
              <a:off x="0" y="114682"/>
              <a:ext cx="234470" cy="307545"/>
              <a:chOff x="0" y="0"/>
              <a:chExt cx="4841206" cy="6350000"/>
            </a:xfrm>
          </p:grpSpPr>
          <p:sp>
            <p:nvSpPr>
              <p:cNvPr name="Freeform 11" id="11"/>
              <p:cNvSpPr/>
              <p:nvPr/>
            </p:nvSpPr>
            <p:spPr>
              <a:xfrm flipH="false" flipV="false" rot="0">
                <a:off x="0" y="0"/>
                <a:ext cx="4841206" cy="6350000"/>
              </a:xfrm>
              <a:custGeom>
                <a:avLst/>
                <a:gdLst/>
                <a:ahLst/>
                <a:cxnLst/>
                <a:rect r="r" b="b" t="t" l="l"/>
                <a:pathLst>
                  <a:path h="6350000" w="4841206">
                    <a:moveTo>
                      <a:pt x="2420603" y="0"/>
                    </a:moveTo>
                    <a:cubicBezTo>
                      <a:pt x="1083741" y="0"/>
                      <a:pt x="0" y="1421496"/>
                      <a:pt x="0" y="3175000"/>
                    </a:cubicBezTo>
                    <a:cubicBezTo>
                      <a:pt x="0" y="4928504"/>
                      <a:pt x="1083741" y="6350000"/>
                      <a:pt x="2420603" y="6350000"/>
                    </a:cubicBezTo>
                    <a:cubicBezTo>
                      <a:pt x="3757466" y="6350000"/>
                      <a:pt x="4841206" y="4928504"/>
                      <a:pt x="4841206" y="3175000"/>
                    </a:cubicBezTo>
                    <a:cubicBezTo>
                      <a:pt x="4841206" y="1421496"/>
                      <a:pt x="3757466" y="0"/>
                      <a:pt x="2420603" y="0"/>
                    </a:cubicBezTo>
                    <a:close/>
                  </a:path>
                </a:pathLst>
              </a:custGeom>
              <a:solidFill>
                <a:srgbClr val="E49F17"/>
              </a:solidFill>
            </p:spPr>
          </p:sp>
        </p:grpSp>
        <p:grpSp>
          <p:nvGrpSpPr>
            <p:cNvPr name="Group 12" id="12"/>
            <p:cNvGrpSpPr/>
            <p:nvPr/>
          </p:nvGrpSpPr>
          <p:grpSpPr>
            <a:xfrm rot="0">
              <a:off x="0" y="1860193"/>
              <a:ext cx="234470" cy="307545"/>
              <a:chOff x="0" y="0"/>
              <a:chExt cx="4841206" cy="6350000"/>
            </a:xfrm>
          </p:grpSpPr>
          <p:sp>
            <p:nvSpPr>
              <p:cNvPr name="Freeform 13" id="13"/>
              <p:cNvSpPr/>
              <p:nvPr/>
            </p:nvSpPr>
            <p:spPr>
              <a:xfrm flipH="false" flipV="false" rot="0">
                <a:off x="0" y="0"/>
                <a:ext cx="4841206" cy="6350000"/>
              </a:xfrm>
              <a:custGeom>
                <a:avLst/>
                <a:gdLst/>
                <a:ahLst/>
                <a:cxnLst/>
                <a:rect r="r" b="b" t="t" l="l"/>
                <a:pathLst>
                  <a:path h="6350000" w="4841206">
                    <a:moveTo>
                      <a:pt x="2420603" y="0"/>
                    </a:moveTo>
                    <a:cubicBezTo>
                      <a:pt x="1083741" y="0"/>
                      <a:pt x="0" y="1421496"/>
                      <a:pt x="0" y="3175000"/>
                    </a:cubicBezTo>
                    <a:cubicBezTo>
                      <a:pt x="0" y="4928504"/>
                      <a:pt x="1083741" y="6350000"/>
                      <a:pt x="2420603" y="6350000"/>
                    </a:cubicBezTo>
                    <a:cubicBezTo>
                      <a:pt x="3757466" y="6350000"/>
                      <a:pt x="4841206" y="4928504"/>
                      <a:pt x="4841206" y="3175000"/>
                    </a:cubicBezTo>
                    <a:cubicBezTo>
                      <a:pt x="4841206" y="1421496"/>
                      <a:pt x="3757466" y="0"/>
                      <a:pt x="2420603" y="0"/>
                    </a:cubicBezTo>
                    <a:close/>
                  </a:path>
                </a:pathLst>
              </a:custGeom>
              <a:solidFill>
                <a:srgbClr val="E49F17"/>
              </a:solidFill>
            </p:spPr>
          </p:sp>
        </p:grpSp>
        <p:grpSp>
          <p:nvGrpSpPr>
            <p:cNvPr name="Group 14" id="14"/>
            <p:cNvGrpSpPr/>
            <p:nvPr/>
          </p:nvGrpSpPr>
          <p:grpSpPr>
            <a:xfrm rot="0">
              <a:off x="0" y="3595608"/>
              <a:ext cx="234470" cy="307545"/>
              <a:chOff x="0" y="0"/>
              <a:chExt cx="4841206" cy="6350000"/>
            </a:xfrm>
          </p:grpSpPr>
          <p:sp>
            <p:nvSpPr>
              <p:cNvPr name="Freeform 15" id="15"/>
              <p:cNvSpPr/>
              <p:nvPr/>
            </p:nvSpPr>
            <p:spPr>
              <a:xfrm flipH="false" flipV="false" rot="0">
                <a:off x="0" y="0"/>
                <a:ext cx="4841206" cy="6350000"/>
              </a:xfrm>
              <a:custGeom>
                <a:avLst/>
                <a:gdLst/>
                <a:ahLst/>
                <a:cxnLst/>
                <a:rect r="r" b="b" t="t" l="l"/>
                <a:pathLst>
                  <a:path h="6350000" w="4841206">
                    <a:moveTo>
                      <a:pt x="2420603" y="0"/>
                    </a:moveTo>
                    <a:cubicBezTo>
                      <a:pt x="1083741" y="0"/>
                      <a:pt x="0" y="1421496"/>
                      <a:pt x="0" y="3175000"/>
                    </a:cubicBezTo>
                    <a:cubicBezTo>
                      <a:pt x="0" y="4928504"/>
                      <a:pt x="1083741" y="6350000"/>
                      <a:pt x="2420603" y="6350000"/>
                    </a:cubicBezTo>
                    <a:cubicBezTo>
                      <a:pt x="3757466" y="6350000"/>
                      <a:pt x="4841206" y="4928504"/>
                      <a:pt x="4841206" y="3175000"/>
                    </a:cubicBezTo>
                    <a:cubicBezTo>
                      <a:pt x="4841206" y="1421496"/>
                      <a:pt x="3757466" y="0"/>
                      <a:pt x="2420603" y="0"/>
                    </a:cubicBezTo>
                    <a:close/>
                  </a:path>
                </a:pathLst>
              </a:custGeom>
              <a:solidFill>
                <a:srgbClr val="E49F17"/>
              </a:solidFill>
            </p:spPr>
          </p:sp>
        </p:gr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Freeform 2" id="2"/>
          <p:cNvSpPr/>
          <p:nvPr/>
        </p:nvSpPr>
        <p:spPr>
          <a:xfrm flipH="false" flipV="false" rot="0">
            <a:off x="1981362" y="383926"/>
            <a:ext cx="1463309" cy="1703998"/>
          </a:xfrm>
          <a:custGeom>
            <a:avLst/>
            <a:gdLst/>
            <a:ahLst/>
            <a:cxnLst/>
            <a:rect r="r" b="b" t="t" l="l"/>
            <a:pathLst>
              <a:path h="1703998" w="1463309">
                <a:moveTo>
                  <a:pt x="0" y="0"/>
                </a:moveTo>
                <a:lnTo>
                  <a:pt x="1463308" y="0"/>
                </a:lnTo>
                <a:lnTo>
                  <a:pt x="1463308"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63367" y="7492919"/>
            <a:ext cx="1463309" cy="1703998"/>
          </a:xfrm>
          <a:custGeom>
            <a:avLst/>
            <a:gdLst/>
            <a:ahLst/>
            <a:cxnLst/>
            <a:rect r="r" b="b" t="t" l="l"/>
            <a:pathLst>
              <a:path h="1703998" w="1463309">
                <a:moveTo>
                  <a:pt x="0" y="0"/>
                </a:moveTo>
                <a:lnTo>
                  <a:pt x="1463309" y="0"/>
                </a:lnTo>
                <a:lnTo>
                  <a:pt x="1463309" y="1703999"/>
                </a:lnTo>
                <a:lnTo>
                  <a:pt x="0" y="17039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rot="0">
            <a:off x="12372216" y="1409982"/>
            <a:ext cx="5268798" cy="0"/>
          </a:xfrm>
          <a:prstGeom prst="line">
            <a:avLst/>
          </a:prstGeom>
          <a:ln cap="rnd" w="28575">
            <a:solidFill>
              <a:srgbClr val="FFFFFF"/>
            </a:solidFill>
            <a:prstDash val="solid"/>
            <a:headEnd type="none" len="sm" w="sm"/>
            <a:tailEnd type="none" len="sm" w="sm"/>
          </a:ln>
        </p:spPr>
      </p:sp>
      <p:sp>
        <p:nvSpPr>
          <p:cNvPr name="AutoShape 5" id="5"/>
          <p:cNvSpPr/>
          <p:nvPr/>
        </p:nvSpPr>
        <p:spPr>
          <a:xfrm rot="0">
            <a:off x="-2604408" y="9815670"/>
            <a:ext cx="5268798" cy="0"/>
          </a:xfrm>
          <a:prstGeom prst="line">
            <a:avLst/>
          </a:prstGeom>
          <a:ln cap="rnd" w="28575">
            <a:solidFill>
              <a:srgbClr val="FFFFFF"/>
            </a:solidFill>
            <a:prstDash val="solid"/>
            <a:headEnd type="none" len="sm" w="sm"/>
            <a:tailEnd type="none" len="sm" w="sm"/>
          </a:ln>
        </p:spPr>
      </p:sp>
      <p:sp>
        <p:nvSpPr>
          <p:cNvPr name="TextBox 6" id="6"/>
          <p:cNvSpPr txBox="true"/>
          <p:nvPr/>
        </p:nvSpPr>
        <p:spPr>
          <a:xfrm rot="0">
            <a:off x="11683851" y="1809857"/>
            <a:ext cx="6344197" cy="679960"/>
          </a:xfrm>
          <a:prstGeom prst="rect">
            <a:avLst/>
          </a:prstGeom>
        </p:spPr>
        <p:txBody>
          <a:bodyPr anchor="t" rtlCol="false" tIns="0" lIns="0" bIns="0" rIns="0">
            <a:spAutoFit/>
          </a:bodyPr>
          <a:lstStyle/>
          <a:p>
            <a:pPr algn="l">
              <a:lnSpc>
                <a:spcPts val="5196"/>
              </a:lnSpc>
            </a:pPr>
            <a:r>
              <a:rPr lang="en-US" b="true" sz="5302" spc="-106">
                <a:solidFill>
                  <a:srgbClr val="FFFFFF"/>
                </a:solidFill>
                <a:latin typeface="Montserrat Ultra-Bold"/>
                <a:ea typeface="Montserrat Ultra-Bold"/>
                <a:cs typeface="Montserrat Ultra-Bold"/>
                <a:sym typeface="Montserrat Ultra-Bold"/>
              </a:rPr>
              <a:t>USER TYPES</a:t>
            </a:r>
          </a:p>
        </p:txBody>
      </p:sp>
      <p:sp>
        <p:nvSpPr>
          <p:cNvPr name="Freeform 7" id="7"/>
          <p:cNvSpPr/>
          <p:nvPr/>
        </p:nvSpPr>
        <p:spPr>
          <a:xfrm flipH="true" flipV="false" rot="0">
            <a:off x="14865475" y="1550645"/>
            <a:ext cx="4806700" cy="4806700"/>
          </a:xfrm>
          <a:custGeom>
            <a:avLst/>
            <a:gdLst/>
            <a:ahLst/>
            <a:cxnLst/>
            <a:rect r="r" b="b" t="t" l="l"/>
            <a:pathLst>
              <a:path h="4806700" w="4806700">
                <a:moveTo>
                  <a:pt x="4806700" y="0"/>
                </a:moveTo>
                <a:lnTo>
                  <a:pt x="0" y="0"/>
                </a:lnTo>
                <a:lnTo>
                  <a:pt x="0" y="4806700"/>
                </a:lnTo>
                <a:lnTo>
                  <a:pt x="4806700" y="4806700"/>
                </a:lnTo>
                <a:lnTo>
                  <a:pt x="48067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028700" y="3288475"/>
            <a:ext cx="230659" cy="230659"/>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9F17"/>
            </a:solidFill>
          </p:spPr>
        </p:sp>
      </p:grpSp>
      <p:sp>
        <p:nvSpPr>
          <p:cNvPr name="TextBox 10" id="10"/>
          <p:cNvSpPr txBox="true"/>
          <p:nvPr/>
        </p:nvSpPr>
        <p:spPr>
          <a:xfrm rot="0">
            <a:off x="1477164" y="3062492"/>
            <a:ext cx="1561505" cy="606425"/>
          </a:xfrm>
          <a:prstGeom prst="rect">
            <a:avLst/>
          </a:prstGeom>
        </p:spPr>
        <p:txBody>
          <a:bodyPr anchor="t" rtlCol="false" tIns="0" lIns="0" bIns="0" rIns="0">
            <a:spAutoFit/>
          </a:bodyPr>
          <a:lstStyle/>
          <a:p>
            <a:pPr algn="ctr">
              <a:lnSpc>
                <a:spcPts val="4900"/>
              </a:lnSpc>
              <a:spcBef>
                <a:spcPct val="0"/>
              </a:spcBef>
            </a:pPr>
            <a:r>
              <a:rPr lang="en-US" sz="3500" i="true" spc="-70">
                <a:solidFill>
                  <a:srgbClr val="FFFFFF"/>
                </a:solidFill>
                <a:latin typeface="Montserrat Italics"/>
                <a:ea typeface="Montserrat Italics"/>
                <a:cs typeface="Montserrat Italics"/>
                <a:sym typeface="Montserrat Italics"/>
              </a:rPr>
              <a:t>ADMIN</a:t>
            </a:r>
          </a:p>
        </p:txBody>
      </p:sp>
      <p:grpSp>
        <p:nvGrpSpPr>
          <p:cNvPr name="Group 11" id="11"/>
          <p:cNvGrpSpPr/>
          <p:nvPr/>
        </p:nvGrpSpPr>
        <p:grpSpPr>
          <a:xfrm rot="0">
            <a:off x="6311781" y="3288475"/>
            <a:ext cx="230659" cy="230659"/>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9F17"/>
            </a:solidFill>
          </p:spPr>
        </p:sp>
      </p:grpSp>
      <p:sp>
        <p:nvSpPr>
          <p:cNvPr name="TextBox 13" id="13"/>
          <p:cNvSpPr txBox="true"/>
          <p:nvPr/>
        </p:nvSpPr>
        <p:spPr>
          <a:xfrm rot="0">
            <a:off x="6590154" y="3062492"/>
            <a:ext cx="3316248" cy="606425"/>
          </a:xfrm>
          <a:prstGeom prst="rect">
            <a:avLst/>
          </a:prstGeom>
        </p:spPr>
        <p:txBody>
          <a:bodyPr anchor="t" rtlCol="false" tIns="0" lIns="0" bIns="0" rIns="0">
            <a:spAutoFit/>
          </a:bodyPr>
          <a:lstStyle/>
          <a:p>
            <a:pPr algn="ctr">
              <a:lnSpc>
                <a:spcPts val="4900"/>
              </a:lnSpc>
              <a:spcBef>
                <a:spcPct val="0"/>
              </a:spcBef>
            </a:pPr>
            <a:r>
              <a:rPr lang="en-US" sz="3500" i="true" spc="-70">
                <a:solidFill>
                  <a:srgbClr val="FFFFFF"/>
                </a:solidFill>
                <a:latin typeface="Montserrat Italics"/>
                <a:ea typeface="Montserrat Italics"/>
                <a:cs typeface="Montserrat Italics"/>
                <a:sym typeface="Montserrat Italics"/>
              </a:rPr>
              <a:t>LAB MANAGER</a:t>
            </a:r>
          </a:p>
        </p:txBody>
      </p:sp>
      <p:grpSp>
        <p:nvGrpSpPr>
          <p:cNvPr name="Group 14" id="14"/>
          <p:cNvGrpSpPr/>
          <p:nvPr/>
        </p:nvGrpSpPr>
        <p:grpSpPr>
          <a:xfrm rot="0">
            <a:off x="12601977" y="3288475"/>
            <a:ext cx="230659" cy="230659"/>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9F17"/>
            </a:solidFill>
          </p:spPr>
        </p:sp>
      </p:grpSp>
      <p:sp>
        <p:nvSpPr>
          <p:cNvPr name="TextBox 16" id="16"/>
          <p:cNvSpPr txBox="true"/>
          <p:nvPr/>
        </p:nvSpPr>
        <p:spPr>
          <a:xfrm rot="0">
            <a:off x="13051710" y="3062492"/>
            <a:ext cx="1561505" cy="606425"/>
          </a:xfrm>
          <a:prstGeom prst="rect">
            <a:avLst/>
          </a:prstGeom>
        </p:spPr>
        <p:txBody>
          <a:bodyPr anchor="t" rtlCol="false" tIns="0" lIns="0" bIns="0" rIns="0">
            <a:spAutoFit/>
          </a:bodyPr>
          <a:lstStyle/>
          <a:p>
            <a:pPr algn="ctr">
              <a:lnSpc>
                <a:spcPts val="4900"/>
              </a:lnSpc>
              <a:spcBef>
                <a:spcPct val="0"/>
              </a:spcBef>
            </a:pPr>
            <a:r>
              <a:rPr lang="en-US" sz="3500" i="true" spc="-70">
                <a:solidFill>
                  <a:srgbClr val="FFFFFF"/>
                </a:solidFill>
                <a:latin typeface="Montserrat Italics"/>
                <a:ea typeface="Montserrat Italics"/>
                <a:cs typeface="Montserrat Italics"/>
                <a:sym typeface="Montserrat Italics"/>
              </a:rPr>
              <a:t>ADMIN</a:t>
            </a:r>
          </a:p>
        </p:txBody>
      </p:sp>
      <p:sp>
        <p:nvSpPr>
          <p:cNvPr name="TextBox 17" id="17"/>
          <p:cNvSpPr txBox="true"/>
          <p:nvPr/>
        </p:nvSpPr>
        <p:spPr>
          <a:xfrm rot="0">
            <a:off x="6425533" y="4195362"/>
            <a:ext cx="4305657" cy="3041650"/>
          </a:xfrm>
          <a:prstGeom prst="rect">
            <a:avLst/>
          </a:prstGeom>
        </p:spPr>
        <p:txBody>
          <a:bodyPr anchor="t" rtlCol="false" tIns="0" lIns="0" bIns="0" rIns="0">
            <a:spAutoFit/>
          </a:bodyPr>
          <a:lstStyle/>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D</a:t>
            </a:r>
            <a:r>
              <a:rPr lang="en-US" sz="2499" spc="-49">
                <a:solidFill>
                  <a:srgbClr val="FFFFFF"/>
                </a:solidFill>
                <a:latin typeface="Montserrat"/>
                <a:ea typeface="Montserrat"/>
                <a:cs typeface="Montserrat"/>
                <a:sym typeface="Montserrat"/>
              </a:rPr>
              <a:t>efines categories</a:t>
            </a:r>
          </a:p>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Adds materials </a:t>
            </a:r>
          </a:p>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Sets reorder thresholds</a:t>
            </a:r>
          </a:p>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Manage researchers</a:t>
            </a:r>
          </a:p>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Monitors resource usage</a:t>
            </a:r>
          </a:p>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Downloads reports</a:t>
            </a:r>
          </a:p>
          <a:p>
            <a:pPr algn="l">
              <a:lnSpc>
                <a:spcPts val="3499"/>
              </a:lnSpc>
              <a:spcBef>
                <a:spcPct val="0"/>
              </a:spcBef>
            </a:pPr>
          </a:p>
        </p:txBody>
      </p:sp>
      <p:sp>
        <p:nvSpPr>
          <p:cNvPr name="TextBox 18" id="18"/>
          <p:cNvSpPr txBox="true"/>
          <p:nvPr/>
        </p:nvSpPr>
        <p:spPr>
          <a:xfrm rot="0">
            <a:off x="1028700" y="4195362"/>
            <a:ext cx="5283081" cy="3041650"/>
          </a:xfrm>
          <a:prstGeom prst="rect">
            <a:avLst/>
          </a:prstGeom>
        </p:spPr>
        <p:txBody>
          <a:bodyPr anchor="t" rtlCol="false" tIns="0" lIns="0" bIns="0" rIns="0">
            <a:spAutoFit/>
          </a:bodyPr>
          <a:lstStyle/>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V</a:t>
            </a:r>
            <a:r>
              <a:rPr lang="en-US" sz="2499" spc="-49">
                <a:solidFill>
                  <a:srgbClr val="FFFFFF"/>
                </a:solidFill>
                <a:latin typeface="Montserrat"/>
                <a:ea typeface="Montserrat"/>
                <a:cs typeface="Montserrat"/>
                <a:sym typeface="Montserrat"/>
              </a:rPr>
              <a:t>iew materials</a:t>
            </a:r>
          </a:p>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Update stock levels</a:t>
            </a:r>
          </a:p>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Submit requests for unavailable items</a:t>
            </a:r>
          </a:p>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and Report damaged equipment.</a:t>
            </a:r>
          </a:p>
          <a:p>
            <a:pPr algn="l">
              <a:lnSpc>
                <a:spcPts val="3499"/>
              </a:lnSpc>
              <a:spcBef>
                <a:spcPct val="0"/>
              </a:spcBef>
            </a:pPr>
          </a:p>
        </p:txBody>
      </p:sp>
      <p:sp>
        <p:nvSpPr>
          <p:cNvPr name="TextBox 19" id="19"/>
          <p:cNvSpPr txBox="true"/>
          <p:nvPr/>
        </p:nvSpPr>
        <p:spPr>
          <a:xfrm rot="0">
            <a:off x="12601977" y="4185227"/>
            <a:ext cx="4624699" cy="1727200"/>
          </a:xfrm>
          <a:prstGeom prst="rect">
            <a:avLst/>
          </a:prstGeom>
        </p:spPr>
        <p:txBody>
          <a:bodyPr anchor="t" rtlCol="false" tIns="0" lIns="0" bIns="0" rIns="0">
            <a:spAutoFit/>
          </a:bodyPr>
          <a:lstStyle/>
          <a:p>
            <a:pPr algn="l" marL="539749" indent="-269875" lvl="1">
              <a:lnSpc>
                <a:spcPts val="3499"/>
              </a:lnSpc>
              <a:buFont typeface="Arial"/>
              <a:buChar char="•"/>
            </a:pPr>
            <a:r>
              <a:rPr lang="en-US" sz="2499" spc="-49">
                <a:solidFill>
                  <a:srgbClr val="FFFFFF"/>
                </a:solidFill>
                <a:latin typeface="Montserrat"/>
                <a:ea typeface="Montserrat"/>
                <a:cs typeface="Montserrat"/>
                <a:sym typeface="Montserrat"/>
              </a:rPr>
              <a:t>Configure departments</a:t>
            </a:r>
          </a:p>
          <a:p>
            <a:pPr algn="l" marL="539749" indent="-269875" lvl="1">
              <a:lnSpc>
                <a:spcPts val="3499"/>
              </a:lnSpc>
              <a:spcBef>
                <a:spcPct val="0"/>
              </a:spcBef>
              <a:buFont typeface="Arial"/>
              <a:buChar char="•"/>
            </a:pPr>
            <a:r>
              <a:rPr lang="en-US" sz="2499" spc="-49">
                <a:solidFill>
                  <a:srgbClr val="FFFFFF"/>
                </a:solidFill>
                <a:latin typeface="Montserrat"/>
                <a:ea typeface="Montserrat"/>
                <a:cs typeface="Montserrat"/>
                <a:sym typeface="Montserrat"/>
              </a:rPr>
              <a:t>Manager researchers and lab managers of all departments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Freeform 2" id="2"/>
          <p:cNvSpPr/>
          <p:nvPr/>
        </p:nvSpPr>
        <p:spPr>
          <a:xfrm flipH="false" flipV="false" rot="0">
            <a:off x="1293271" y="803011"/>
            <a:ext cx="1463309" cy="1703998"/>
          </a:xfrm>
          <a:custGeom>
            <a:avLst/>
            <a:gdLst/>
            <a:ahLst/>
            <a:cxnLst/>
            <a:rect r="r" b="b" t="t" l="l"/>
            <a:pathLst>
              <a:path h="1703998" w="1463309">
                <a:moveTo>
                  <a:pt x="0" y="0"/>
                </a:moveTo>
                <a:lnTo>
                  <a:pt x="1463309" y="0"/>
                </a:lnTo>
                <a:lnTo>
                  <a:pt x="1463309" y="1703999"/>
                </a:lnTo>
                <a:lnTo>
                  <a:pt x="0" y="17039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527646" y="8202452"/>
            <a:ext cx="1463309" cy="1703998"/>
          </a:xfrm>
          <a:custGeom>
            <a:avLst/>
            <a:gdLst/>
            <a:ahLst/>
            <a:cxnLst/>
            <a:rect r="r" b="b" t="t" l="l"/>
            <a:pathLst>
              <a:path h="1703998" w="1463309">
                <a:moveTo>
                  <a:pt x="0" y="0"/>
                </a:moveTo>
                <a:lnTo>
                  <a:pt x="1463308" y="0"/>
                </a:lnTo>
                <a:lnTo>
                  <a:pt x="1463308"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195426" y="4845424"/>
            <a:ext cx="230659" cy="230659"/>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9F17"/>
            </a:solidFill>
          </p:spPr>
        </p:sp>
      </p:grpSp>
      <p:grpSp>
        <p:nvGrpSpPr>
          <p:cNvPr name="Group 6" id="6"/>
          <p:cNvGrpSpPr/>
          <p:nvPr/>
        </p:nvGrpSpPr>
        <p:grpSpPr>
          <a:xfrm rot="0">
            <a:off x="2195426" y="5781491"/>
            <a:ext cx="230659" cy="230659"/>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9F17"/>
            </a:solidFill>
          </p:spPr>
        </p:sp>
      </p:grpSp>
      <p:grpSp>
        <p:nvGrpSpPr>
          <p:cNvPr name="Group 8" id="8"/>
          <p:cNvGrpSpPr/>
          <p:nvPr/>
        </p:nvGrpSpPr>
        <p:grpSpPr>
          <a:xfrm rot="0">
            <a:off x="2195426" y="7209396"/>
            <a:ext cx="230659" cy="230659"/>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9F17"/>
            </a:solidFill>
          </p:spPr>
        </p:sp>
      </p:grpSp>
      <p:sp>
        <p:nvSpPr>
          <p:cNvPr name="AutoShape 10" id="10"/>
          <p:cNvSpPr/>
          <p:nvPr/>
        </p:nvSpPr>
        <p:spPr>
          <a:xfrm rot="0">
            <a:off x="1028700" y="9508639"/>
            <a:ext cx="2697822" cy="0"/>
          </a:xfrm>
          <a:prstGeom prst="line">
            <a:avLst/>
          </a:prstGeom>
          <a:ln cap="rnd" w="28575">
            <a:solidFill>
              <a:srgbClr val="FFFFFF"/>
            </a:solidFill>
            <a:prstDash val="solid"/>
            <a:headEnd type="none" len="sm" w="sm"/>
            <a:tailEnd type="none" len="sm" w="sm"/>
          </a:ln>
        </p:spPr>
      </p:sp>
      <p:sp>
        <p:nvSpPr>
          <p:cNvPr name="AutoShape 11" id="11"/>
          <p:cNvSpPr/>
          <p:nvPr/>
        </p:nvSpPr>
        <p:spPr>
          <a:xfrm rot="0">
            <a:off x="14561478" y="1416501"/>
            <a:ext cx="2697822" cy="0"/>
          </a:xfrm>
          <a:prstGeom prst="line">
            <a:avLst/>
          </a:prstGeom>
          <a:ln cap="rnd" w="28575">
            <a:solidFill>
              <a:srgbClr val="FFFFFF"/>
            </a:solidFill>
            <a:prstDash val="solid"/>
            <a:headEnd type="none" len="sm" w="sm"/>
            <a:tailEnd type="none" len="sm" w="sm"/>
          </a:ln>
        </p:spPr>
      </p:sp>
      <p:sp>
        <p:nvSpPr>
          <p:cNvPr name="Freeform 12" id="12"/>
          <p:cNvSpPr/>
          <p:nvPr/>
        </p:nvSpPr>
        <p:spPr>
          <a:xfrm flipH="false" flipV="false" rot="0">
            <a:off x="9009177" y="1942785"/>
            <a:ext cx="8613797" cy="7580142"/>
          </a:xfrm>
          <a:custGeom>
            <a:avLst/>
            <a:gdLst/>
            <a:ahLst/>
            <a:cxnLst/>
            <a:rect r="r" b="b" t="t" l="l"/>
            <a:pathLst>
              <a:path h="7580142" w="8613797">
                <a:moveTo>
                  <a:pt x="0" y="0"/>
                </a:moveTo>
                <a:lnTo>
                  <a:pt x="8613798" y="0"/>
                </a:lnTo>
                <a:lnTo>
                  <a:pt x="8613798" y="7580142"/>
                </a:lnTo>
                <a:lnTo>
                  <a:pt x="0" y="7580142"/>
                </a:lnTo>
                <a:lnTo>
                  <a:pt x="0" y="0"/>
                </a:lnTo>
                <a:close/>
              </a:path>
            </a:pathLst>
          </a:custGeom>
          <a:blipFill>
            <a:blip r:embed="rId4"/>
            <a:stretch>
              <a:fillRect l="0" t="0" r="0" b="0"/>
            </a:stretch>
          </a:blipFill>
        </p:spPr>
      </p:sp>
      <p:sp>
        <p:nvSpPr>
          <p:cNvPr name="TextBox 13" id="13"/>
          <p:cNvSpPr txBox="true"/>
          <p:nvPr/>
        </p:nvSpPr>
        <p:spPr>
          <a:xfrm rot="0">
            <a:off x="2310755" y="2728464"/>
            <a:ext cx="6604906" cy="1380781"/>
          </a:xfrm>
          <a:prstGeom prst="rect">
            <a:avLst/>
          </a:prstGeom>
        </p:spPr>
        <p:txBody>
          <a:bodyPr anchor="t" rtlCol="false" tIns="0" lIns="0" bIns="0" rIns="0">
            <a:spAutoFit/>
          </a:bodyPr>
          <a:lstStyle/>
          <a:p>
            <a:pPr algn="l">
              <a:lnSpc>
                <a:spcPts val="5344"/>
              </a:lnSpc>
            </a:pPr>
            <a:r>
              <a:rPr lang="en-US" b="true" sz="5139" spc="-102">
                <a:solidFill>
                  <a:srgbClr val="FFFFFF"/>
                </a:solidFill>
                <a:latin typeface="Montserrat Ultra-Bold"/>
                <a:ea typeface="Montserrat Ultra-Bold"/>
                <a:cs typeface="Montserrat Ultra-Bold"/>
                <a:sym typeface="Montserrat Ultra-Bold"/>
              </a:rPr>
              <a:t>TECHNOLOGIES USED &amp; WHY</a:t>
            </a:r>
          </a:p>
        </p:txBody>
      </p:sp>
      <p:sp>
        <p:nvSpPr>
          <p:cNvPr name="TextBox 14" id="14"/>
          <p:cNvSpPr txBox="true"/>
          <p:nvPr/>
        </p:nvSpPr>
        <p:spPr>
          <a:xfrm rot="0">
            <a:off x="2576138" y="4845050"/>
            <a:ext cx="5252128" cy="317500"/>
          </a:xfrm>
          <a:prstGeom prst="rect">
            <a:avLst/>
          </a:prstGeom>
        </p:spPr>
        <p:txBody>
          <a:bodyPr anchor="t" rtlCol="false" tIns="0" lIns="0" bIns="0" rIns="0">
            <a:spAutoFit/>
          </a:bodyPr>
          <a:lstStyle/>
          <a:p>
            <a:pPr algn="l">
              <a:lnSpc>
                <a:spcPts val="2449"/>
              </a:lnSpc>
            </a:pPr>
            <a:r>
              <a:rPr lang="en-US" sz="2499" i="true" spc="-49">
                <a:solidFill>
                  <a:srgbClr val="FFFFFF"/>
                </a:solidFill>
                <a:latin typeface="Montserrat Italics"/>
                <a:ea typeface="Montserrat Italics"/>
                <a:cs typeface="Montserrat Italics"/>
                <a:sym typeface="Montserrat Italics"/>
              </a:rPr>
              <a:t>React: </a:t>
            </a:r>
            <a:r>
              <a:rPr lang="en-US" sz="2499" spc="-49">
                <a:solidFill>
                  <a:srgbClr val="FFFFFF"/>
                </a:solidFill>
                <a:latin typeface="Montserrat"/>
                <a:ea typeface="Montserrat"/>
                <a:cs typeface="Montserrat"/>
                <a:sym typeface="Montserrat"/>
              </a:rPr>
              <a:t>Component-based, fast UIs</a:t>
            </a:r>
          </a:p>
        </p:txBody>
      </p:sp>
      <p:sp>
        <p:nvSpPr>
          <p:cNvPr name="TextBox 15" id="15"/>
          <p:cNvSpPr txBox="true"/>
          <p:nvPr/>
        </p:nvSpPr>
        <p:spPr>
          <a:xfrm rot="0">
            <a:off x="2576138" y="5753100"/>
            <a:ext cx="5252128" cy="927100"/>
          </a:xfrm>
          <a:prstGeom prst="rect">
            <a:avLst/>
          </a:prstGeom>
        </p:spPr>
        <p:txBody>
          <a:bodyPr anchor="t" rtlCol="false" tIns="0" lIns="0" bIns="0" rIns="0">
            <a:spAutoFit/>
          </a:bodyPr>
          <a:lstStyle/>
          <a:p>
            <a:pPr algn="l">
              <a:lnSpc>
                <a:spcPts val="2449"/>
              </a:lnSpc>
            </a:pPr>
            <a:r>
              <a:rPr lang="en-US" sz="2499" i="true" spc="-49">
                <a:solidFill>
                  <a:srgbClr val="FFFFFF"/>
                </a:solidFill>
                <a:latin typeface="Montserrat Italics"/>
                <a:ea typeface="Montserrat Italics"/>
                <a:cs typeface="Montserrat Italics"/>
                <a:sym typeface="Montserrat Italics"/>
              </a:rPr>
              <a:t>Spring: </a:t>
            </a:r>
            <a:r>
              <a:rPr lang="en-US" sz="2499" spc="-49">
                <a:solidFill>
                  <a:srgbClr val="FFFFFF"/>
                </a:solidFill>
                <a:latin typeface="Montserrat"/>
                <a:ea typeface="Montserrat"/>
                <a:cs typeface="Montserrat"/>
                <a:sym typeface="Montserrat"/>
              </a:rPr>
              <a:t> Robust Java backend framework with DI and REST support</a:t>
            </a:r>
          </a:p>
        </p:txBody>
      </p:sp>
      <p:sp>
        <p:nvSpPr>
          <p:cNvPr name="TextBox 16" id="16"/>
          <p:cNvSpPr txBox="true"/>
          <p:nvPr/>
        </p:nvSpPr>
        <p:spPr>
          <a:xfrm rot="0">
            <a:off x="2576138" y="7194550"/>
            <a:ext cx="5252128" cy="927100"/>
          </a:xfrm>
          <a:prstGeom prst="rect">
            <a:avLst/>
          </a:prstGeom>
        </p:spPr>
        <p:txBody>
          <a:bodyPr anchor="t" rtlCol="false" tIns="0" lIns="0" bIns="0" rIns="0">
            <a:spAutoFit/>
          </a:bodyPr>
          <a:lstStyle/>
          <a:p>
            <a:pPr algn="l">
              <a:lnSpc>
                <a:spcPts val="2449"/>
              </a:lnSpc>
            </a:pPr>
            <a:r>
              <a:rPr lang="en-US" sz="2499" i="true" spc="-49">
                <a:solidFill>
                  <a:srgbClr val="FFFFFF"/>
                </a:solidFill>
                <a:latin typeface="Montserrat Italics"/>
                <a:ea typeface="Montserrat Italics"/>
                <a:cs typeface="Montserrat Italics"/>
                <a:sym typeface="Montserrat Italics"/>
              </a:rPr>
              <a:t>RabbitMQ: </a:t>
            </a:r>
            <a:r>
              <a:rPr lang="en-US" sz="2499" spc="-49">
                <a:solidFill>
                  <a:srgbClr val="FFFFFF"/>
                </a:solidFill>
                <a:latin typeface="Montserrat"/>
                <a:ea typeface="Montserrat"/>
                <a:cs typeface="Montserrat"/>
                <a:sym typeface="Montserrat"/>
              </a:rPr>
              <a:t>Reliable message broker for async, decoupled communication.</a:t>
            </a:r>
          </a:p>
        </p:txBody>
      </p:sp>
      <p:grpSp>
        <p:nvGrpSpPr>
          <p:cNvPr name="Group 17" id="17"/>
          <p:cNvGrpSpPr/>
          <p:nvPr/>
        </p:nvGrpSpPr>
        <p:grpSpPr>
          <a:xfrm rot="0">
            <a:off x="2195426" y="8650846"/>
            <a:ext cx="230659" cy="230659"/>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9F17"/>
            </a:solidFill>
          </p:spPr>
        </p:sp>
      </p:grpSp>
      <p:sp>
        <p:nvSpPr>
          <p:cNvPr name="TextBox 19" id="19"/>
          <p:cNvSpPr txBox="true"/>
          <p:nvPr/>
        </p:nvSpPr>
        <p:spPr>
          <a:xfrm rot="0">
            <a:off x="2576138" y="8636000"/>
            <a:ext cx="5252128" cy="622300"/>
          </a:xfrm>
          <a:prstGeom prst="rect">
            <a:avLst/>
          </a:prstGeom>
        </p:spPr>
        <p:txBody>
          <a:bodyPr anchor="t" rtlCol="false" tIns="0" lIns="0" bIns="0" rIns="0">
            <a:spAutoFit/>
          </a:bodyPr>
          <a:lstStyle/>
          <a:p>
            <a:pPr algn="l">
              <a:lnSpc>
                <a:spcPts val="2449"/>
              </a:lnSpc>
            </a:pPr>
            <a:r>
              <a:rPr lang="en-US" sz="2499" i="true" spc="-49">
                <a:solidFill>
                  <a:srgbClr val="FFFFFF"/>
                </a:solidFill>
                <a:latin typeface="Montserrat Italics"/>
                <a:ea typeface="Montserrat Italics"/>
                <a:cs typeface="Montserrat Italics"/>
                <a:sym typeface="Montserrat Italics"/>
              </a:rPr>
              <a:t>PostreSQL: </a:t>
            </a:r>
            <a:r>
              <a:rPr lang="en-US" sz="2499" spc="-49">
                <a:solidFill>
                  <a:srgbClr val="FFFFFF"/>
                </a:solidFill>
                <a:latin typeface="Montserrat"/>
                <a:ea typeface="Montserrat"/>
                <a:cs typeface="Montserrat"/>
                <a:sym typeface="Montserrat"/>
              </a:rPr>
              <a:t>Powerful, standards-compliant relational DB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AutoShape 2" id="2"/>
          <p:cNvSpPr/>
          <p:nvPr/>
        </p:nvSpPr>
        <p:spPr>
          <a:xfrm flipV="true">
            <a:off x="13201316" y="1294932"/>
            <a:ext cx="4503121" cy="14288"/>
          </a:xfrm>
          <a:prstGeom prst="line">
            <a:avLst/>
          </a:prstGeom>
          <a:ln cap="rnd" w="28575">
            <a:solidFill>
              <a:srgbClr val="FFFFFF"/>
            </a:solidFill>
            <a:prstDash val="solid"/>
            <a:headEnd type="none" len="sm" w="sm"/>
            <a:tailEnd type="none" len="sm" w="sm"/>
          </a:ln>
        </p:spPr>
      </p:sp>
      <p:sp>
        <p:nvSpPr>
          <p:cNvPr name="Freeform 3" id="3"/>
          <p:cNvSpPr/>
          <p:nvPr/>
        </p:nvSpPr>
        <p:spPr>
          <a:xfrm flipH="false" flipV="false" rot="0">
            <a:off x="1293271" y="803011"/>
            <a:ext cx="1463309" cy="1703998"/>
          </a:xfrm>
          <a:custGeom>
            <a:avLst/>
            <a:gdLst/>
            <a:ahLst/>
            <a:cxnLst/>
            <a:rect r="r" b="b" t="t" l="l"/>
            <a:pathLst>
              <a:path h="1703998" w="1463309">
                <a:moveTo>
                  <a:pt x="0" y="0"/>
                </a:moveTo>
                <a:lnTo>
                  <a:pt x="1463309" y="0"/>
                </a:lnTo>
                <a:lnTo>
                  <a:pt x="1463309" y="1703999"/>
                </a:lnTo>
                <a:lnTo>
                  <a:pt x="0" y="17039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681594" y="7554302"/>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28346" y="2122416"/>
            <a:ext cx="13536506" cy="7783491"/>
          </a:xfrm>
          <a:custGeom>
            <a:avLst/>
            <a:gdLst/>
            <a:ahLst/>
            <a:cxnLst/>
            <a:rect r="r" b="b" t="t" l="l"/>
            <a:pathLst>
              <a:path h="7783491" w="13536506">
                <a:moveTo>
                  <a:pt x="0" y="0"/>
                </a:moveTo>
                <a:lnTo>
                  <a:pt x="13536506" y="0"/>
                </a:lnTo>
                <a:lnTo>
                  <a:pt x="13536506" y="7783492"/>
                </a:lnTo>
                <a:lnTo>
                  <a:pt x="0" y="7783492"/>
                </a:lnTo>
                <a:lnTo>
                  <a:pt x="0" y="0"/>
                </a:lnTo>
                <a:close/>
              </a:path>
            </a:pathLst>
          </a:custGeom>
          <a:blipFill>
            <a:blip r:embed="rId4"/>
            <a:stretch>
              <a:fillRect l="0" t="0" r="0" b="0"/>
            </a:stretch>
          </a:blipFill>
          <a:ln cap="rnd">
            <a:noFill/>
            <a:prstDash val="sysDot"/>
            <a:round/>
          </a:ln>
        </p:spPr>
      </p:sp>
      <p:sp>
        <p:nvSpPr>
          <p:cNvPr name="TextBox 6" id="6"/>
          <p:cNvSpPr txBox="true"/>
          <p:nvPr/>
        </p:nvSpPr>
        <p:spPr>
          <a:xfrm rot="0">
            <a:off x="13233647" y="524944"/>
            <a:ext cx="6344197" cy="679960"/>
          </a:xfrm>
          <a:prstGeom prst="rect">
            <a:avLst/>
          </a:prstGeom>
        </p:spPr>
        <p:txBody>
          <a:bodyPr anchor="t" rtlCol="false" tIns="0" lIns="0" bIns="0" rIns="0">
            <a:spAutoFit/>
          </a:bodyPr>
          <a:lstStyle/>
          <a:p>
            <a:pPr algn="l">
              <a:lnSpc>
                <a:spcPts val="5196"/>
              </a:lnSpc>
            </a:pPr>
            <a:r>
              <a:rPr lang="en-US" b="true" sz="5302" spc="-106">
                <a:solidFill>
                  <a:srgbClr val="FFFFFF"/>
                </a:solidFill>
                <a:latin typeface="Montserrat Ultra-Bold"/>
                <a:ea typeface="Montserrat Ultra-Bold"/>
                <a:cs typeface="Montserrat Ultra-Bold"/>
                <a:sym typeface="Montserrat Ultra-Bold"/>
              </a:rPr>
              <a:t>UML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TextBox 2" id="2"/>
          <p:cNvSpPr txBox="true"/>
          <p:nvPr/>
        </p:nvSpPr>
        <p:spPr>
          <a:xfrm rot="0">
            <a:off x="10915103" y="1031151"/>
            <a:ext cx="6344197" cy="679960"/>
          </a:xfrm>
          <a:prstGeom prst="rect">
            <a:avLst/>
          </a:prstGeom>
        </p:spPr>
        <p:txBody>
          <a:bodyPr anchor="t" rtlCol="false" tIns="0" lIns="0" bIns="0" rIns="0">
            <a:spAutoFit/>
          </a:bodyPr>
          <a:lstStyle/>
          <a:p>
            <a:pPr algn="l">
              <a:lnSpc>
                <a:spcPts val="5196"/>
              </a:lnSpc>
            </a:pPr>
            <a:r>
              <a:rPr lang="en-US" b="true" sz="5302" spc="-106">
                <a:solidFill>
                  <a:srgbClr val="FFFFFF"/>
                </a:solidFill>
                <a:latin typeface="Montserrat Ultra-Bold"/>
                <a:ea typeface="Montserrat Ultra-Bold"/>
                <a:cs typeface="Montserrat Ultra-Bold"/>
                <a:sym typeface="Montserrat Ultra-Bold"/>
              </a:rPr>
              <a:t>DOCKERIZATION</a:t>
            </a:r>
          </a:p>
        </p:txBody>
      </p:sp>
      <p:sp>
        <p:nvSpPr>
          <p:cNvPr name="AutoShape 3" id="3"/>
          <p:cNvSpPr/>
          <p:nvPr/>
        </p:nvSpPr>
        <p:spPr>
          <a:xfrm>
            <a:off x="14561478" y="1988684"/>
            <a:ext cx="2697822" cy="0"/>
          </a:xfrm>
          <a:prstGeom prst="line">
            <a:avLst/>
          </a:prstGeom>
          <a:ln cap="rnd" w="28575">
            <a:solidFill>
              <a:srgbClr val="FFFFFF"/>
            </a:solidFill>
            <a:prstDash val="solid"/>
            <a:headEnd type="none" len="sm" w="sm"/>
            <a:tailEnd type="none" len="sm" w="sm"/>
          </a:ln>
        </p:spPr>
      </p:sp>
      <p:sp>
        <p:nvSpPr>
          <p:cNvPr name="TextBox 4" id="4"/>
          <p:cNvSpPr txBox="true"/>
          <p:nvPr/>
        </p:nvSpPr>
        <p:spPr>
          <a:xfrm rot="0">
            <a:off x="1293271" y="2959522"/>
            <a:ext cx="7439461" cy="2539047"/>
          </a:xfrm>
          <a:prstGeom prst="rect">
            <a:avLst/>
          </a:prstGeom>
        </p:spPr>
        <p:txBody>
          <a:bodyPr anchor="t" rtlCol="false" tIns="0" lIns="0" bIns="0" rIns="0">
            <a:spAutoFit/>
          </a:bodyPr>
          <a:lstStyle/>
          <a:p>
            <a:pPr algn="just">
              <a:lnSpc>
                <a:spcPts val="3390"/>
              </a:lnSpc>
              <a:spcBef>
                <a:spcPct val="0"/>
              </a:spcBef>
            </a:pPr>
            <a:r>
              <a:rPr lang="en-US" b="true" sz="3000" spc="-60">
                <a:solidFill>
                  <a:srgbClr val="FFFFFF"/>
                </a:solidFill>
                <a:latin typeface="Montserrat Bold"/>
                <a:ea typeface="Montserrat Bold"/>
                <a:cs typeface="Montserrat Bold"/>
                <a:sym typeface="Montserrat Bold"/>
              </a:rPr>
              <a:t>Database </a:t>
            </a:r>
            <a:r>
              <a:rPr lang="en-US" sz="3000" spc="-60">
                <a:solidFill>
                  <a:srgbClr val="FFFFFF"/>
                </a:solidFill>
                <a:latin typeface="Montserrat"/>
                <a:ea typeface="Montserrat"/>
                <a:cs typeface="Montserrat"/>
                <a:sym typeface="Montserrat"/>
              </a:rPr>
              <a:t>— </a:t>
            </a:r>
            <a:r>
              <a:rPr lang="en-US" sz="3000" i="true" spc="-60">
                <a:solidFill>
                  <a:srgbClr val="FFFFFF"/>
                </a:solidFill>
                <a:latin typeface="Montserrat Italics"/>
                <a:ea typeface="Montserrat Italics"/>
                <a:cs typeface="Montserrat Italics"/>
                <a:sym typeface="Montserrat Italics"/>
              </a:rPr>
              <a:t>database-service </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Image: </a:t>
            </a:r>
            <a:r>
              <a:rPr lang="en-US" sz="2499" i="true" spc="-49">
                <a:solidFill>
                  <a:srgbClr val="FFFFFF"/>
                </a:solidFill>
                <a:latin typeface="Montserrat Italics"/>
                <a:ea typeface="Montserrat Italics"/>
                <a:cs typeface="Montserrat Italics"/>
                <a:sym typeface="Montserrat Italics"/>
              </a:rPr>
              <a:t>postgres:17</a:t>
            </a:r>
            <a:r>
              <a:rPr lang="en-US" sz="2499" spc="-49">
                <a:solidFill>
                  <a:srgbClr val="FFFFFF"/>
                </a:solidFill>
                <a:latin typeface="Montserrat"/>
                <a:ea typeface="Montserrat"/>
                <a:cs typeface="Montserrat"/>
                <a:sym typeface="Montserrat"/>
              </a:rPr>
              <a:t> </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Port: </a:t>
            </a:r>
            <a:r>
              <a:rPr lang="en-US" sz="2499" i="true" spc="-49">
                <a:solidFill>
                  <a:srgbClr val="FFFFFF"/>
                </a:solidFill>
                <a:latin typeface="Montserrat Italics"/>
                <a:ea typeface="Montserrat Italics"/>
                <a:cs typeface="Montserrat Italics"/>
                <a:sym typeface="Montserrat Italics"/>
              </a:rPr>
              <a:t>5432:5432</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Volumes: </a:t>
            </a:r>
            <a:r>
              <a:rPr lang="en-US" sz="2499" i="true" spc="-49">
                <a:solidFill>
                  <a:srgbClr val="FFFFFF"/>
                </a:solidFill>
                <a:latin typeface="Montserrat Italics"/>
                <a:ea typeface="Montserrat Italics"/>
                <a:cs typeface="Montserrat Italics"/>
                <a:sym typeface="Montserrat Italics"/>
              </a:rPr>
              <a:t>db_data:/var/lib/postgresql/data</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Description: </a:t>
            </a:r>
            <a:r>
              <a:rPr lang="en-US" sz="2499" i="true" spc="-49">
                <a:solidFill>
                  <a:srgbClr val="FFFFFF"/>
                </a:solidFill>
                <a:latin typeface="Montserrat Italics"/>
                <a:ea typeface="Montserrat Italics"/>
                <a:cs typeface="Montserrat Italics"/>
                <a:sym typeface="Montserrat Italics"/>
              </a:rPr>
              <a:t>Provides persistent storage for materials, users, and categories.</a:t>
            </a:r>
          </a:p>
          <a:p>
            <a:pPr algn="just">
              <a:lnSpc>
                <a:spcPts val="2824"/>
              </a:lnSpc>
              <a:spcBef>
                <a:spcPct val="0"/>
              </a:spcBef>
            </a:pPr>
          </a:p>
        </p:txBody>
      </p:sp>
      <p:sp>
        <p:nvSpPr>
          <p:cNvPr name="AutoShape 5" id="5"/>
          <p:cNvSpPr/>
          <p:nvPr/>
        </p:nvSpPr>
        <p:spPr>
          <a:xfrm>
            <a:off x="1293271" y="5484282"/>
            <a:ext cx="2306328" cy="0"/>
          </a:xfrm>
          <a:prstGeom prst="line">
            <a:avLst/>
          </a:prstGeom>
          <a:ln cap="rnd" w="28575">
            <a:solidFill>
              <a:srgbClr val="FFFFFF"/>
            </a:solidFill>
            <a:prstDash val="solid"/>
            <a:headEnd type="none" len="sm" w="sm"/>
            <a:tailEnd type="none" len="sm" w="sm"/>
          </a:ln>
        </p:spPr>
      </p:sp>
      <p:sp>
        <p:nvSpPr>
          <p:cNvPr name="TextBox 6" id="6"/>
          <p:cNvSpPr txBox="true"/>
          <p:nvPr/>
        </p:nvSpPr>
        <p:spPr>
          <a:xfrm rot="0">
            <a:off x="1028700" y="5946640"/>
            <a:ext cx="7704032" cy="3243897"/>
          </a:xfrm>
          <a:prstGeom prst="rect">
            <a:avLst/>
          </a:prstGeom>
        </p:spPr>
        <p:txBody>
          <a:bodyPr anchor="t" rtlCol="false" tIns="0" lIns="0" bIns="0" rIns="0">
            <a:spAutoFit/>
          </a:bodyPr>
          <a:lstStyle/>
          <a:p>
            <a:pPr algn="just">
              <a:lnSpc>
                <a:spcPts val="3390"/>
              </a:lnSpc>
              <a:spcBef>
                <a:spcPct val="0"/>
              </a:spcBef>
            </a:pPr>
            <a:r>
              <a:rPr lang="en-US" b="true" sz="3000" spc="-60">
                <a:solidFill>
                  <a:srgbClr val="FFFFFF"/>
                </a:solidFill>
                <a:latin typeface="Montserrat Bold"/>
                <a:ea typeface="Montserrat Bold"/>
                <a:cs typeface="Montserrat Bold"/>
                <a:sym typeface="Montserrat Bold"/>
              </a:rPr>
              <a:t>Back End </a:t>
            </a:r>
            <a:r>
              <a:rPr lang="en-US" sz="3000" spc="-60">
                <a:solidFill>
                  <a:srgbClr val="FFFFFF"/>
                </a:solidFill>
                <a:latin typeface="Montserrat"/>
                <a:ea typeface="Montserrat"/>
                <a:cs typeface="Montserrat"/>
                <a:sym typeface="Montserrat"/>
              </a:rPr>
              <a:t>— </a:t>
            </a:r>
            <a:r>
              <a:rPr lang="en-US" sz="3000" i="true" spc="-60">
                <a:solidFill>
                  <a:srgbClr val="FFFFFF"/>
                </a:solidFill>
                <a:latin typeface="Montserrat Italics"/>
                <a:ea typeface="Montserrat Italics"/>
                <a:cs typeface="Montserrat Italics"/>
                <a:sym typeface="Montserrat Italics"/>
              </a:rPr>
              <a:t>back_end-service </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Build: </a:t>
            </a:r>
            <a:r>
              <a:rPr lang="en-US" sz="2499" i="true" spc="-49">
                <a:solidFill>
                  <a:srgbClr val="FFFFFF"/>
                </a:solidFill>
                <a:latin typeface="Montserrat Italics"/>
                <a:ea typeface="Montserrat Italics"/>
                <a:cs typeface="Montserrat Italics"/>
                <a:sym typeface="Montserrat Italics"/>
              </a:rPr>
              <a:t>built from Dockerfile.back </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Port: </a:t>
            </a:r>
            <a:r>
              <a:rPr lang="en-US" sz="2499" i="true" spc="-49">
                <a:solidFill>
                  <a:srgbClr val="FFFFFF"/>
                </a:solidFill>
                <a:latin typeface="Montserrat Italics"/>
                <a:ea typeface="Montserrat Italics"/>
                <a:cs typeface="Montserrat Italics"/>
                <a:sym typeface="Montserrat Italics"/>
              </a:rPr>
              <a:t>9001:8080</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Depend</a:t>
            </a:r>
            <a:r>
              <a:rPr lang="en-US" sz="2499" spc="-49">
                <a:solidFill>
                  <a:srgbClr val="FFFFFF"/>
                </a:solidFill>
                <a:latin typeface="Montserrat"/>
                <a:ea typeface="Montserrat"/>
                <a:cs typeface="Montserrat"/>
                <a:sym typeface="Montserrat"/>
              </a:rPr>
              <a:t>s</a:t>
            </a:r>
            <a:r>
              <a:rPr lang="en-US" sz="2499" spc="-49">
                <a:solidFill>
                  <a:srgbClr val="FFFFFF"/>
                </a:solidFill>
                <a:latin typeface="Montserrat"/>
                <a:ea typeface="Montserrat"/>
                <a:cs typeface="Montserrat"/>
                <a:sym typeface="Montserrat"/>
              </a:rPr>
              <a:t>_on: </a:t>
            </a:r>
            <a:r>
              <a:rPr lang="en-US" sz="2499" i="true" spc="-49">
                <a:solidFill>
                  <a:srgbClr val="FFFFFF"/>
                </a:solidFill>
                <a:latin typeface="Montserrat Italics"/>
                <a:ea typeface="Montserrat Italics"/>
                <a:cs typeface="Montserrat Italics"/>
                <a:sym typeface="Montserrat Italics"/>
              </a:rPr>
              <a:t>db</a:t>
            </a:r>
          </a:p>
          <a:p>
            <a:pPr algn="l"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Description: </a:t>
            </a:r>
            <a:r>
              <a:rPr lang="en-US" sz="2499" i="true" spc="-49">
                <a:solidFill>
                  <a:srgbClr val="FFFFFF"/>
                </a:solidFill>
                <a:latin typeface="Montserrat Italics"/>
                <a:ea typeface="Montserrat Italics"/>
                <a:cs typeface="Montserrat Italics"/>
                <a:sym typeface="Montserrat Italics"/>
              </a:rPr>
              <a:t>Handles all business logic, material management, requests, and notifications</a:t>
            </a:r>
          </a:p>
          <a:p>
            <a:pPr algn="just">
              <a:lnSpc>
                <a:spcPts val="2824"/>
              </a:lnSpc>
              <a:spcBef>
                <a:spcPct val="0"/>
              </a:spcBef>
            </a:pPr>
          </a:p>
          <a:p>
            <a:pPr algn="just">
              <a:lnSpc>
                <a:spcPts val="2824"/>
              </a:lnSpc>
              <a:spcBef>
                <a:spcPct val="0"/>
              </a:spcBef>
            </a:pPr>
          </a:p>
        </p:txBody>
      </p:sp>
      <p:sp>
        <p:nvSpPr>
          <p:cNvPr name="AutoShape 7" id="7"/>
          <p:cNvSpPr/>
          <p:nvPr/>
        </p:nvSpPr>
        <p:spPr>
          <a:xfrm>
            <a:off x="1028700" y="8823780"/>
            <a:ext cx="2263233" cy="0"/>
          </a:xfrm>
          <a:prstGeom prst="line">
            <a:avLst/>
          </a:prstGeom>
          <a:ln cap="rnd" w="28575">
            <a:solidFill>
              <a:srgbClr val="FFFFFF"/>
            </a:solidFill>
            <a:prstDash val="solid"/>
            <a:headEnd type="none" len="sm" w="sm"/>
            <a:tailEnd type="none" len="sm" w="sm"/>
          </a:ln>
        </p:spPr>
      </p:sp>
      <p:sp>
        <p:nvSpPr>
          <p:cNvPr name="TextBox 8" id="8"/>
          <p:cNvSpPr txBox="true"/>
          <p:nvPr/>
        </p:nvSpPr>
        <p:spPr>
          <a:xfrm rot="0">
            <a:off x="9342708" y="2959522"/>
            <a:ext cx="9183373" cy="2891472"/>
          </a:xfrm>
          <a:prstGeom prst="rect">
            <a:avLst/>
          </a:prstGeom>
        </p:spPr>
        <p:txBody>
          <a:bodyPr anchor="t" rtlCol="false" tIns="0" lIns="0" bIns="0" rIns="0">
            <a:spAutoFit/>
          </a:bodyPr>
          <a:lstStyle/>
          <a:p>
            <a:pPr algn="just">
              <a:lnSpc>
                <a:spcPts val="3390"/>
              </a:lnSpc>
              <a:spcBef>
                <a:spcPct val="0"/>
              </a:spcBef>
            </a:pPr>
            <a:r>
              <a:rPr lang="en-US" b="true" sz="3000" spc="-60">
                <a:solidFill>
                  <a:srgbClr val="FFFFFF"/>
                </a:solidFill>
                <a:latin typeface="Montserrat Bold"/>
                <a:ea typeface="Montserrat Bold"/>
                <a:cs typeface="Montserrat Bold"/>
                <a:sym typeface="Montserrat Bold"/>
              </a:rPr>
              <a:t>Authentication </a:t>
            </a:r>
            <a:r>
              <a:rPr lang="en-US" sz="3000" spc="-60">
                <a:solidFill>
                  <a:srgbClr val="FFFFFF"/>
                </a:solidFill>
                <a:latin typeface="Montserrat"/>
                <a:ea typeface="Montserrat"/>
                <a:cs typeface="Montserrat"/>
                <a:sym typeface="Montserrat"/>
              </a:rPr>
              <a:t>— </a:t>
            </a:r>
            <a:r>
              <a:rPr lang="en-US" sz="3000" i="true" spc="-60">
                <a:solidFill>
                  <a:srgbClr val="FFFFFF"/>
                </a:solidFill>
                <a:latin typeface="Montserrat Italics"/>
                <a:ea typeface="Montserrat Italics"/>
                <a:cs typeface="Montserrat Italics"/>
                <a:sym typeface="Montserrat Italics"/>
              </a:rPr>
              <a:t>authentication-service </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Build: </a:t>
            </a:r>
            <a:r>
              <a:rPr lang="en-US" sz="2499" i="true" spc="-49">
                <a:solidFill>
                  <a:srgbClr val="FFFFFF"/>
                </a:solidFill>
                <a:latin typeface="Montserrat Italics"/>
                <a:ea typeface="Montserrat Italics"/>
                <a:cs typeface="Montserrat Italics"/>
                <a:sym typeface="Montserrat Italics"/>
              </a:rPr>
              <a:t>built from Dockerfile.auth</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Port: </a:t>
            </a:r>
            <a:r>
              <a:rPr lang="en-US" sz="2499" i="true" spc="-49">
                <a:solidFill>
                  <a:srgbClr val="FFFFFF"/>
                </a:solidFill>
                <a:latin typeface="Montserrat Italics"/>
                <a:ea typeface="Montserrat Italics"/>
                <a:cs typeface="Montserrat Italics"/>
                <a:sym typeface="Montserrat Italics"/>
              </a:rPr>
              <a:t>9002:8080</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Depend</a:t>
            </a:r>
            <a:r>
              <a:rPr lang="en-US" sz="2499" spc="-49">
                <a:solidFill>
                  <a:srgbClr val="FFFFFF"/>
                </a:solidFill>
                <a:latin typeface="Montserrat"/>
                <a:ea typeface="Montserrat"/>
                <a:cs typeface="Montserrat"/>
                <a:sym typeface="Montserrat"/>
              </a:rPr>
              <a:t>s</a:t>
            </a:r>
            <a:r>
              <a:rPr lang="en-US" sz="2499" spc="-49">
                <a:solidFill>
                  <a:srgbClr val="FFFFFF"/>
                </a:solidFill>
                <a:latin typeface="Montserrat"/>
                <a:ea typeface="Montserrat"/>
                <a:cs typeface="Montserrat"/>
                <a:sym typeface="Montserrat"/>
              </a:rPr>
              <a:t>_on: </a:t>
            </a:r>
            <a:r>
              <a:rPr lang="en-US" sz="2499" i="true" spc="-49">
                <a:solidFill>
                  <a:srgbClr val="FFFFFF"/>
                </a:solidFill>
                <a:latin typeface="Montserrat Italics"/>
                <a:ea typeface="Montserrat Italics"/>
                <a:cs typeface="Montserrat Italics"/>
                <a:sym typeface="Montserrat Italics"/>
              </a:rPr>
              <a:t>db, back-end</a:t>
            </a:r>
          </a:p>
          <a:p>
            <a:pPr algn="l" marL="539749" indent="-269875" lvl="1">
              <a:lnSpc>
                <a:spcPts val="2824"/>
              </a:lnSpc>
              <a:buFont typeface="Arial"/>
              <a:buChar char="•"/>
            </a:pPr>
            <a:r>
              <a:rPr lang="en-US" sz="2499" spc="-49">
                <a:solidFill>
                  <a:srgbClr val="FFFFFF"/>
                </a:solidFill>
                <a:latin typeface="Montserrat"/>
                <a:ea typeface="Montserrat"/>
                <a:cs typeface="Montserrat"/>
                <a:sym typeface="Montserrat"/>
              </a:rPr>
              <a:t>Description:</a:t>
            </a:r>
            <a:r>
              <a:rPr lang="en-US" sz="2499" i="true" spc="-49">
                <a:solidFill>
                  <a:srgbClr val="FFFFFF"/>
                </a:solidFill>
                <a:latin typeface="Montserrat Italics"/>
                <a:ea typeface="Montserrat Italics"/>
                <a:cs typeface="Montserrat Italics"/>
                <a:sym typeface="Montserrat Italics"/>
              </a:rPr>
              <a:t> Handles user authentication and authorization</a:t>
            </a:r>
          </a:p>
          <a:p>
            <a:pPr algn="just">
              <a:lnSpc>
                <a:spcPts val="2824"/>
              </a:lnSpc>
              <a:spcBef>
                <a:spcPct val="0"/>
              </a:spcBef>
            </a:pPr>
          </a:p>
          <a:p>
            <a:pPr algn="just">
              <a:lnSpc>
                <a:spcPts val="2824"/>
              </a:lnSpc>
              <a:spcBef>
                <a:spcPct val="0"/>
              </a:spcBef>
            </a:pPr>
          </a:p>
        </p:txBody>
      </p:sp>
      <p:sp>
        <p:nvSpPr>
          <p:cNvPr name="AutoShape 9" id="9"/>
          <p:cNvSpPr/>
          <p:nvPr/>
        </p:nvSpPr>
        <p:spPr>
          <a:xfrm>
            <a:off x="9342708" y="5469994"/>
            <a:ext cx="2697822" cy="0"/>
          </a:xfrm>
          <a:prstGeom prst="line">
            <a:avLst/>
          </a:prstGeom>
          <a:ln cap="rnd" w="28575">
            <a:solidFill>
              <a:srgbClr val="FFFFFF"/>
            </a:solidFill>
            <a:prstDash val="solid"/>
            <a:headEnd type="none" len="sm" w="sm"/>
            <a:tailEnd type="none" len="sm" w="sm"/>
          </a:ln>
        </p:spPr>
      </p:sp>
      <p:sp>
        <p:nvSpPr>
          <p:cNvPr name="TextBox 10" id="10"/>
          <p:cNvSpPr txBox="true"/>
          <p:nvPr/>
        </p:nvSpPr>
        <p:spPr>
          <a:xfrm rot="0">
            <a:off x="9342708" y="5946640"/>
            <a:ext cx="9183373" cy="2539047"/>
          </a:xfrm>
          <a:prstGeom prst="rect">
            <a:avLst/>
          </a:prstGeom>
        </p:spPr>
        <p:txBody>
          <a:bodyPr anchor="t" rtlCol="false" tIns="0" lIns="0" bIns="0" rIns="0">
            <a:spAutoFit/>
          </a:bodyPr>
          <a:lstStyle/>
          <a:p>
            <a:pPr algn="just">
              <a:lnSpc>
                <a:spcPts val="3390"/>
              </a:lnSpc>
              <a:spcBef>
                <a:spcPct val="0"/>
              </a:spcBef>
            </a:pPr>
            <a:r>
              <a:rPr lang="en-US" b="true" sz="3000" spc="-60">
                <a:solidFill>
                  <a:srgbClr val="FFFFFF"/>
                </a:solidFill>
                <a:latin typeface="Montserrat Bold"/>
                <a:ea typeface="Montserrat Bold"/>
                <a:cs typeface="Montserrat Bold"/>
                <a:sym typeface="Montserrat Bold"/>
              </a:rPr>
              <a:t>Notification</a:t>
            </a:r>
            <a:r>
              <a:rPr lang="en-US" sz="3000" spc="-60">
                <a:solidFill>
                  <a:srgbClr val="FFFFFF"/>
                </a:solidFill>
                <a:latin typeface="Montserrat"/>
                <a:ea typeface="Montserrat"/>
                <a:cs typeface="Montserrat"/>
                <a:sym typeface="Montserrat"/>
              </a:rPr>
              <a:t>— </a:t>
            </a:r>
            <a:r>
              <a:rPr lang="en-US" sz="3000" i="true" spc="-60">
                <a:solidFill>
                  <a:srgbClr val="FFFFFF"/>
                </a:solidFill>
                <a:latin typeface="Montserrat Italics"/>
                <a:ea typeface="Montserrat Italics"/>
                <a:cs typeface="Montserrat Italics"/>
                <a:sym typeface="Montserrat Italics"/>
              </a:rPr>
              <a:t>notification-service </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Build: </a:t>
            </a:r>
            <a:r>
              <a:rPr lang="en-US" sz="2499" i="true" spc="-49">
                <a:solidFill>
                  <a:srgbClr val="FFFFFF"/>
                </a:solidFill>
                <a:latin typeface="Montserrat Italics"/>
                <a:ea typeface="Montserrat Italics"/>
                <a:cs typeface="Montserrat Italics"/>
                <a:sym typeface="Montserrat Italics"/>
              </a:rPr>
              <a:t>built from Dockerfile.notif</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Port: </a:t>
            </a:r>
            <a:r>
              <a:rPr lang="en-US" sz="2499" i="true" spc="-49">
                <a:solidFill>
                  <a:srgbClr val="FFFFFF"/>
                </a:solidFill>
                <a:latin typeface="Montserrat Italics"/>
                <a:ea typeface="Montserrat Italics"/>
                <a:cs typeface="Montserrat Italics"/>
                <a:sym typeface="Montserrat Italics"/>
              </a:rPr>
              <a:t>9003:8080</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Depend</a:t>
            </a:r>
            <a:r>
              <a:rPr lang="en-US" sz="2499" spc="-49">
                <a:solidFill>
                  <a:srgbClr val="FFFFFF"/>
                </a:solidFill>
                <a:latin typeface="Montserrat"/>
                <a:ea typeface="Montserrat"/>
                <a:cs typeface="Montserrat"/>
                <a:sym typeface="Montserrat"/>
              </a:rPr>
              <a:t>s</a:t>
            </a:r>
            <a:r>
              <a:rPr lang="en-US" sz="2499" spc="-49">
                <a:solidFill>
                  <a:srgbClr val="FFFFFF"/>
                </a:solidFill>
                <a:latin typeface="Montserrat"/>
                <a:ea typeface="Montserrat"/>
                <a:cs typeface="Montserrat"/>
                <a:sym typeface="Montserrat"/>
              </a:rPr>
              <a:t>_on: </a:t>
            </a:r>
            <a:r>
              <a:rPr lang="en-US" sz="2499" i="true" spc="-49">
                <a:solidFill>
                  <a:srgbClr val="FFFFFF"/>
                </a:solidFill>
                <a:latin typeface="Montserrat Italics"/>
                <a:ea typeface="Montserrat Italics"/>
                <a:cs typeface="Montserrat Italics"/>
                <a:sym typeface="Montserrat Italics"/>
              </a:rPr>
              <a:t>db, back-end, broker</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Description:</a:t>
            </a:r>
            <a:r>
              <a:rPr lang="en-US" sz="2499" i="true" spc="-49">
                <a:solidFill>
                  <a:srgbClr val="FFFFFF"/>
                </a:solidFill>
                <a:latin typeface="Montserrat Italics"/>
                <a:ea typeface="Montserrat Italics"/>
                <a:cs typeface="Montserrat Italics"/>
                <a:sym typeface="Montserrat Italics"/>
              </a:rPr>
              <a:t> Handles alerts sent to broker.</a:t>
            </a:r>
          </a:p>
          <a:p>
            <a:pPr algn="just">
              <a:lnSpc>
                <a:spcPts val="2824"/>
              </a:lnSpc>
              <a:spcBef>
                <a:spcPct val="0"/>
              </a:spcBef>
            </a:pPr>
          </a:p>
          <a:p>
            <a:pPr algn="just">
              <a:lnSpc>
                <a:spcPts val="2824"/>
              </a:lnSpc>
              <a:spcBef>
                <a:spcPct val="0"/>
              </a:spcBef>
            </a:pPr>
          </a:p>
        </p:txBody>
      </p:sp>
      <p:sp>
        <p:nvSpPr>
          <p:cNvPr name="AutoShape 11" id="11"/>
          <p:cNvSpPr/>
          <p:nvPr/>
        </p:nvSpPr>
        <p:spPr>
          <a:xfrm>
            <a:off x="9144000" y="8222815"/>
            <a:ext cx="2697822" cy="0"/>
          </a:xfrm>
          <a:prstGeom prst="line">
            <a:avLst/>
          </a:prstGeom>
          <a:ln cap="rnd" w="28575">
            <a:solidFill>
              <a:srgbClr val="FFFFFF"/>
            </a:solidFill>
            <a:prstDash val="solid"/>
            <a:headEnd type="none" len="sm" w="sm"/>
            <a:tailEnd type="none" len="sm" w="sm"/>
          </a:ln>
        </p:spPr>
      </p:sp>
      <p:sp>
        <p:nvSpPr>
          <p:cNvPr name="Freeform 12" id="12"/>
          <p:cNvSpPr/>
          <p:nvPr/>
        </p:nvSpPr>
        <p:spPr>
          <a:xfrm flipH="false" flipV="false" rot="0">
            <a:off x="1293271" y="803011"/>
            <a:ext cx="1463309" cy="1703998"/>
          </a:xfrm>
          <a:custGeom>
            <a:avLst/>
            <a:gdLst/>
            <a:ahLst/>
            <a:cxnLst/>
            <a:rect r="r" b="b" t="t" l="l"/>
            <a:pathLst>
              <a:path h="1703998" w="1463309">
                <a:moveTo>
                  <a:pt x="0" y="0"/>
                </a:moveTo>
                <a:lnTo>
                  <a:pt x="1463309" y="0"/>
                </a:lnTo>
                <a:lnTo>
                  <a:pt x="1463309" y="1703999"/>
                </a:lnTo>
                <a:lnTo>
                  <a:pt x="0" y="17039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grpSp>
        <p:nvGrpSpPr>
          <p:cNvPr name="Group 2" id="2"/>
          <p:cNvGrpSpPr/>
          <p:nvPr/>
        </p:nvGrpSpPr>
        <p:grpSpPr>
          <a:xfrm rot="0">
            <a:off x="2024926" y="3161001"/>
            <a:ext cx="9183373" cy="1510347"/>
            <a:chOff x="0" y="0"/>
            <a:chExt cx="12244497" cy="2013797"/>
          </a:xfrm>
        </p:grpSpPr>
        <p:sp>
          <p:nvSpPr>
            <p:cNvPr name="TextBox 3" id="3"/>
            <p:cNvSpPr txBox="true"/>
            <p:nvPr/>
          </p:nvSpPr>
          <p:spPr>
            <a:xfrm rot="0">
              <a:off x="0" y="28575"/>
              <a:ext cx="12244497" cy="1985222"/>
            </a:xfrm>
            <a:prstGeom prst="rect">
              <a:avLst/>
            </a:prstGeom>
          </p:spPr>
          <p:txBody>
            <a:bodyPr anchor="t" rtlCol="false" tIns="0" lIns="0" bIns="0" rIns="0">
              <a:spAutoFit/>
            </a:bodyPr>
            <a:lstStyle/>
            <a:p>
              <a:pPr algn="just">
                <a:lnSpc>
                  <a:spcPts val="3390"/>
                </a:lnSpc>
                <a:spcBef>
                  <a:spcPct val="0"/>
                </a:spcBef>
              </a:pPr>
              <a:r>
                <a:rPr lang="en-US" b="true" sz="3000" spc="-60">
                  <a:solidFill>
                    <a:srgbClr val="FFFFFF"/>
                  </a:solidFill>
                  <a:latin typeface="Montserrat Bold"/>
                  <a:ea typeface="Montserrat Bold"/>
                  <a:cs typeface="Montserrat Bold"/>
                  <a:sym typeface="Montserrat Bold"/>
                </a:rPr>
                <a:t>PgAdmin</a:t>
              </a:r>
              <a:r>
                <a:rPr lang="en-US" sz="3000" spc="-60">
                  <a:solidFill>
                    <a:srgbClr val="FFFFFF"/>
                  </a:solidFill>
                  <a:latin typeface="Montserrat"/>
                  <a:ea typeface="Montserrat"/>
                  <a:cs typeface="Montserrat"/>
                  <a:sym typeface="Montserrat"/>
                </a:rPr>
                <a:t>— </a:t>
              </a:r>
              <a:r>
                <a:rPr lang="en-US" sz="3000" i="true" spc="-60">
                  <a:solidFill>
                    <a:srgbClr val="FFFFFF"/>
                  </a:solidFill>
                  <a:latin typeface="Montserrat Italics"/>
                  <a:ea typeface="Montserrat Italics"/>
                  <a:cs typeface="Montserrat Italics"/>
                  <a:sym typeface="Montserrat Italics"/>
                </a:rPr>
                <a:t>pgadmin</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Image: </a:t>
              </a:r>
              <a:r>
                <a:rPr lang="en-US" sz="2499" i="true" spc="-49">
                  <a:solidFill>
                    <a:srgbClr val="FFFFFF"/>
                  </a:solidFill>
                  <a:latin typeface="Montserrat Italics"/>
                  <a:ea typeface="Montserrat Italics"/>
                  <a:cs typeface="Montserrat Italics"/>
                  <a:sym typeface="Montserrat Italics"/>
                </a:rPr>
                <a:t>dpage/pgadmin4</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Port: </a:t>
              </a:r>
              <a:r>
                <a:rPr lang="en-US" sz="2499" i="true" spc="-49">
                  <a:solidFill>
                    <a:srgbClr val="FFFFFF"/>
                  </a:solidFill>
                  <a:latin typeface="Montserrat Italics"/>
                  <a:ea typeface="Montserrat Italics"/>
                  <a:cs typeface="Montserrat Italics"/>
                  <a:sym typeface="Montserrat Italics"/>
                </a:rPr>
                <a:t>5050:80</a:t>
              </a:r>
            </a:p>
            <a:p>
              <a:pPr algn="just">
                <a:lnSpc>
                  <a:spcPts val="2824"/>
                </a:lnSpc>
                <a:spcBef>
                  <a:spcPct val="0"/>
                </a:spcBef>
              </a:pPr>
            </a:p>
          </p:txBody>
        </p:sp>
        <p:sp>
          <p:nvSpPr>
            <p:cNvPr name="AutoShape 4" id="4"/>
            <p:cNvSpPr/>
            <p:nvPr/>
          </p:nvSpPr>
          <p:spPr>
            <a:xfrm>
              <a:off x="0" y="1994747"/>
              <a:ext cx="3597096" cy="0"/>
            </a:xfrm>
            <a:prstGeom prst="line">
              <a:avLst/>
            </a:prstGeom>
            <a:ln cap="rnd" w="38100">
              <a:solidFill>
                <a:srgbClr val="FFFFFF"/>
              </a:solidFill>
              <a:prstDash val="solid"/>
              <a:headEnd type="none" len="sm" w="sm"/>
              <a:tailEnd type="none" len="sm" w="sm"/>
            </a:ln>
          </p:spPr>
        </p:sp>
      </p:grpSp>
      <p:sp>
        <p:nvSpPr>
          <p:cNvPr name="TextBox 5" id="5"/>
          <p:cNvSpPr txBox="true"/>
          <p:nvPr/>
        </p:nvSpPr>
        <p:spPr>
          <a:xfrm rot="0">
            <a:off x="9315577" y="3567241"/>
            <a:ext cx="7458142" cy="4653597"/>
          </a:xfrm>
          <a:prstGeom prst="rect">
            <a:avLst/>
          </a:prstGeom>
        </p:spPr>
        <p:txBody>
          <a:bodyPr anchor="t" rtlCol="false" tIns="0" lIns="0" bIns="0" rIns="0">
            <a:spAutoFit/>
          </a:bodyPr>
          <a:lstStyle/>
          <a:p>
            <a:pPr algn="just">
              <a:lnSpc>
                <a:spcPts val="3390"/>
              </a:lnSpc>
              <a:spcBef>
                <a:spcPct val="0"/>
              </a:spcBef>
            </a:pPr>
            <a:r>
              <a:rPr lang="en-US" b="true" sz="3000" spc="-60">
                <a:solidFill>
                  <a:srgbClr val="FFFFFF"/>
                </a:solidFill>
                <a:latin typeface="Montserrat Bold"/>
                <a:ea typeface="Montserrat Bold"/>
                <a:cs typeface="Montserrat Bold"/>
                <a:sym typeface="Montserrat Bold"/>
              </a:rPr>
              <a:t>Broker </a:t>
            </a:r>
            <a:r>
              <a:rPr lang="en-US" sz="3000" spc="-60">
                <a:solidFill>
                  <a:srgbClr val="FFFFFF"/>
                </a:solidFill>
                <a:latin typeface="Montserrat"/>
                <a:ea typeface="Montserrat"/>
                <a:cs typeface="Montserrat"/>
                <a:sym typeface="Montserrat"/>
              </a:rPr>
              <a:t>— </a:t>
            </a:r>
            <a:r>
              <a:rPr lang="en-US" sz="3000" i="true" spc="-60">
                <a:solidFill>
                  <a:srgbClr val="FFFFFF"/>
                </a:solidFill>
                <a:latin typeface="Montserrat Italics"/>
                <a:ea typeface="Montserrat Italics"/>
                <a:cs typeface="Montserrat Italics"/>
                <a:sym typeface="Montserrat Italics"/>
              </a:rPr>
              <a:t>rabbitmq-service </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Build: </a:t>
            </a:r>
            <a:r>
              <a:rPr lang="en-US" sz="2499" i="true" spc="-49">
                <a:solidFill>
                  <a:srgbClr val="FFFFFF"/>
                </a:solidFill>
                <a:latin typeface="Montserrat Italics"/>
                <a:ea typeface="Montserrat Italics"/>
                <a:cs typeface="Montserrat Italics"/>
                <a:sym typeface="Montserrat Italics"/>
              </a:rPr>
              <a:t>rabbitmq:3-management</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Ports:</a:t>
            </a:r>
          </a:p>
          <a:p>
            <a:pPr algn="just" marL="1079499" indent="-359833" lvl="2">
              <a:lnSpc>
                <a:spcPts val="2824"/>
              </a:lnSpc>
              <a:buFont typeface="Arial"/>
              <a:buChar char="⚬"/>
            </a:pPr>
            <a:r>
              <a:rPr lang="en-US" sz="2499" i="true" spc="-49">
                <a:solidFill>
                  <a:srgbClr val="FFFFFF"/>
                </a:solidFill>
                <a:latin typeface="Montserrat Italics"/>
                <a:ea typeface="Montserrat Italics"/>
                <a:cs typeface="Montserrat Italics"/>
                <a:sym typeface="Montserrat Italics"/>
              </a:rPr>
              <a:t>5672:5672</a:t>
            </a:r>
            <a:r>
              <a:rPr lang="en-US" sz="2499" spc="-49">
                <a:solidFill>
                  <a:srgbClr val="FFFFFF"/>
                </a:solidFill>
                <a:latin typeface="Montserrat"/>
                <a:ea typeface="Montserrat"/>
                <a:cs typeface="Montserrat"/>
                <a:sym typeface="Montserrat"/>
              </a:rPr>
              <a:t> </a:t>
            </a:r>
            <a:r>
              <a:rPr lang="en-US" sz="2499" spc="-49">
                <a:solidFill>
                  <a:srgbClr val="C6C6C6"/>
                </a:solidFill>
                <a:latin typeface="Montserrat"/>
                <a:ea typeface="Montserrat"/>
                <a:cs typeface="Montserrat"/>
                <a:sym typeface="Montserrat"/>
              </a:rPr>
              <a:t>(AMQP protocol)</a:t>
            </a:r>
          </a:p>
          <a:p>
            <a:pPr algn="just" marL="1079499" indent="-359833" lvl="2">
              <a:lnSpc>
                <a:spcPts val="2824"/>
              </a:lnSpc>
              <a:spcBef>
                <a:spcPct val="0"/>
              </a:spcBef>
              <a:buFont typeface="Arial"/>
              <a:buChar char="⚬"/>
            </a:pPr>
            <a:r>
              <a:rPr lang="en-US" sz="2499" i="true" spc="-49">
                <a:solidFill>
                  <a:srgbClr val="FFFFFF"/>
                </a:solidFill>
                <a:latin typeface="Montserrat Italics"/>
                <a:ea typeface="Montserrat Italics"/>
                <a:cs typeface="Montserrat Italics"/>
                <a:sym typeface="Montserrat Italics"/>
              </a:rPr>
              <a:t>15672:15672</a:t>
            </a:r>
            <a:r>
              <a:rPr lang="en-US" sz="2499" spc="-49">
                <a:solidFill>
                  <a:srgbClr val="FFFFFF"/>
                </a:solidFill>
                <a:latin typeface="Montserrat"/>
                <a:ea typeface="Montserrat"/>
                <a:cs typeface="Montserrat"/>
                <a:sym typeface="Montserrat"/>
              </a:rPr>
              <a:t> </a:t>
            </a:r>
            <a:r>
              <a:rPr lang="en-US" sz="2499" spc="-49">
                <a:solidFill>
                  <a:srgbClr val="C6C6C6"/>
                </a:solidFill>
                <a:latin typeface="Montserrat"/>
                <a:ea typeface="Montserrat"/>
                <a:cs typeface="Montserrat"/>
                <a:sym typeface="Montserrat"/>
              </a:rPr>
              <a:t>(RabbitMQ manag</a:t>
            </a:r>
            <a:r>
              <a:rPr lang="en-US" sz="2499" spc="-49">
                <a:solidFill>
                  <a:srgbClr val="C6C6C6"/>
                </a:solidFill>
                <a:latin typeface="Montserrat"/>
                <a:ea typeface="Montserrat"/>
                <a:cs typeface="Montserrat"/>
                <a:sym typeface="Montserrat"/>
              </a:rPr>
              <a:t>ement UI)</a:t>
            </a:r>
          </a:p>
          <a:p>
            <a:pPr algn="just" marL="1079499" indent="-359833" lvl="2">
              <a:lnSpc>
                <a:spcPts val="2824"/>
              </a:lnSpc>
              <a:spcBef>
                <a:spcPct val="0"/>
              </a:spcBef>
              <a:buFont typeface="Arial"/>
              <a:buChar char="⚬"/>
            </a:pPr>
            <a:r>
              <a:rPr lang="en-US" sz="2499" i="true" spc="-49">
                <a:solidFill>
                  <a:srgbClr val="FFFFFF"/>
                </a:solidFill>
                <a:latin typeface="Montserrat Italics"/>
                <a:ea typeface="Montserrat Italics"/>
                <a:cs typeface="Montserrat Italics"/>
                <a:sym typeface="Montserrat Italics"/>
              </a:rPr>
              <a:t>1883:1883</a:t>
            </a:r>
            <a:r>
              <a:rPr lang="en-US" sz="2499" spc="-49">
                <a:solidFill>
                  <a:srgbClr val="FFFFFF"/>
                </a:solidFill>
                <a:latin typeface="Montserrat"/>
                <a:ea typeface="Montserrat"/>
                <a:cs typeface="Montserrat"/>
                <a:sym typeface="Montserrat"/>
              </a:rPr>
              <a:t> </a:t>
            </a:r>
            <a:r>
              <a:rPr lang="en-US" sz="2499" spc="-49">
                <a:solidFill>
                  <a:srgbClr val="C6C6C6"/>
                </a:solidFill>
                <a:latin typeface="Montserrat"/>
                <a:ea typeface="Montserrat"/>
                <a:cs typeface="Montserrat"/>
                <a:sym typeface="Montserrat"/>
              </a:rPr>
              <a:t>(MQTT native)</a:t>
            </a:r>
          </a:p>
          <a:p>
            <a:pPr algn="just" marL="1079499" indent="-359833" lvl="2">
              <a:lnSpc>
                <a:spcPts val="2824"/>
              </a:lnSpc>
              <a:spcBef>
                <a:spcPct val="0"/>
              </a:spcBef>
              <a:buFont typeface="Arial"/>
              <a:buChar char="⚬"/>
            </a:pPr>
            <a:r>
              <a:rPr lang="en-US" sz="2499" i="true" spc="-49">
                <a:solidFill>
                  <a:srgbClr val="FFFFFF"/>
                </a:solidFill>
                <a:latin typeface="Montserrat Italics"/>
                <a:ea typeface="Montserrat Italics"/>
                <a:cs typeface="Montserrat Italics"/>
                <a:sym typeface="Montserrat Italics"/>
              </a:rPr>
              <a:t>15675:15675</a:t>
            </a:r>
            <a:r>
              <a:rPr lang="en-US" sz="2499" spc="-49">
                <a:solidFill>
                  <a:srgbClr val="C6C6C6"/>
                </a:solidFill>
                <a:latin typeface="Montserrat"/>
                <a:ea typeface="Montserrat"/>
                <a:cs typeface="Montserrat"/>
                <a:sym typeface="Montserrat"/>
              </a:rPr>
              <a:t> (MQTT</a:t>
            </a:r>
            <a:r>
              <a:rPr lang="en-US" sz="2499" spc="-49">
                <a:solidFill>
                  <a:srgbClr val="C6C6C6"/>
                </a:solidFill>
                <a:latin typeface="Montserrat"/>
                <a:ea typeface="Montserrat"/>
                <a:cs typeface="Montserrat"/>
                <a:sym typeface="Montserrat"/>
              </a:rPr>
              <a:t> </a:t>
            </a:r>
            <a:r>
              <a:rPr lang="en-US" sz="2499" spc="-49">
                <a:solidFill>
                  <a:srgbClr val="C6C6C6"/>
                </a:solidFill>
                <a:latin typeface="Montserrat"/>
                <a:ea typeface="Montserrat"/>
                <a:cs typeface="Montserrat"/>
                <a:sym typeface="Montserrat"/>
              </a:rPr>
              <a:t>over We</a:t>
            </a:r>
            <a:r>
              <a:rPr lang="en-US" sz="2499" spc="-49">
                <a:solidFill>
                  <a:srgbClr val="C6C6C6"/>
                </a:solidFill>
                <a:latin typeface="Montserrat"/>
                <a:ea typeface="Montserrat"/>
                <a:cs typeface="Montserrat"/>
                <a:sym typeface="Montserrat"/>
              </a:rPr>
              <a:t>b</a:t>
            </a:r>
            <a:r>
              <a:rPr lang="en-US" sz="2499" spc="-49">
                <a:solidFill>
                  <a:srgbClr val="C6C6C6"/>
                </a:solidFill>
                <a:latin typeface="Montserrat"/>
                <a:ea typeface="Montserrat"/>
                <a:cs typeface="Montserrat"/>
                <a:sym typeface="Montserrat"/>
              </a:rPr>
              <a:t>So</a:t>
            </a:r>
            <a:r>
              <a:rPr lang="en-US" sz="2499" spc="-49">
                <a:solidFill>
                  <a:srgbClr val="C6C6C6"/>
                </a:solidFill>
                <a:latin typeface="Montserrat"/>
                <a:ea typeface="Montserrat"/>
                <a:cs typeface="Montserrat"/>
                <a:sym typeface="Montserrat"/>
              </a:rPr>
              <a:t>cke</a:t>
            </a:r>
            <a:r>
              <a:rPr lang="en-US" sz="2499" spc="-49">
                <a:solidFill>
                  <a:srgbClr val="C6C6C6"/>
                </a:solidFill>
                <a:latin typeface="Montserrat"/>
                <a:ea typeface="Montserrat"/>
                <a:cs typeface="Montserrat"/>
                <a:sym typeface="Montserrat"/>
              </a:rPr>
              <a:t>ts)</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Volumes: </a:t>
            </a:r>
            <a:r>
              <a:rPr lang="en-US" sz="2499" i="true" spc="-49">
                <a:solidFill>
                  <a:srgbClr val="FFFFFF"/>
                </a:solidFill>
                <a:latin typeface="Montserrat Italics"/>
                <a:ea typeface="Montserrat Italics"/>
                <a:cs typeface="Montserrat Italics"/>
                <a:sym typeface="Montserrat Italics"/>
              </a:rPr>
              <a:t>rabbitmq_data</a:t>
            </a:r>
          </a:p>
          <a:p>
            <a:pPr algn="l"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Description: </a:t>
            </a:r>
            <a:r>
              <a:rPr lang="en-US" sz="2499" i="true" spc="-49">
                <a:solidFill>
                  <a:srgbClr val="FFFFFF"/>
                </a:solidFill>
                <a:latin typeface="Montserrat Italics"/>
                <a:ea typeface="Montserrat Italics"/>
                <a:cs typeface="Montserrat Italics"/>
                <a:sym typeface="Montserrat Italics"/>
              </a:rPr>
              <a:t>Handles asynchronous messaging and notifications between services</a:t>
            </a:r>
          </a:p>
          <a:p>
            <a:pPr algn="just">
              <a:lnSpc>
                <a:spcPts val="2824"/>
              </a:lnSpc>
              <a:spcBef>
                <a:spcPct val="0"/>
              </a:spcBef>
            </a:pPr>
          </a:p>
          <a:p>
            <a:pPr algn="just">
              <a:lnSpc>
                <a:spcPts val="2824"/>
              </a:lnSpc>
              <a:spcBef>
                <a:spcPct val="0"/>
              </a:spcBef>
            </a:pPr>
          </a:p>
        </p:txBody>
      </p:sp>
      <p:sp>
        <p:nvSpPr>
          <p:cNvPr name="AutoShape 6" id="6"/>
          <p:cNvSpPr/>
          <p:nvPr/>
        </p:nvSpPr>
        <p:spPr>
          <a:xfrm>
            <a:off x="9315577" y="7816045"/>
            <a:ext cx="2190997" cy="0"/>
          </a:xfrm>
          <a:prstGeom prst="line">
            <a:avLst/>
          </a:prstGeom>
          <a:ln cap="rnd" w="28575">
            <a:solidFill>
              <a:srgbClr val="FFFFFF"/>
            </a:solidFill>
            <a:prstDash val="solid"/>
            <a:headEnd type="none" len="sm" w="sm"/>
            <a:tailEnd type="none" len="sm" w="sm"/>
          </a:ln>
        </p:spPr>
      </p:sp>
      <p:sp>
        <p:nvSpPr>
          <p:cNvPr name="TextBox 7" id="7"/>
          <p:cNvSpPr txBox="true"/>
          <p:nvPr/>
        </p:nvSpPr>
        <p:spPr>
          <a:xfrm rot="0">
            <a:off x="1731729" y="5681791"/>
            <a:ext cx="6652227" cy="2539047"/>
          </a:xfrm>
          <a:prstGeom prst="rect">
            <a:avLst/>
          </a:prstGeom>
        </p:spPr>
        <p:txBody>
          <a:bodyPr anchor="t" rtlCol="false" tIns="0" lIns="0" bIns="0" rIns="0">
            <a:spAutoFit/>
          </a:bodyPr>
          <a:lstStyle/>
          <a:p>
            <a:pPr algn="just">
              <a:lnSpc>
                <a:spcPts val="3390"/>
              </a:lnSpc>
              <a:spcBef>
                <a:spcPct val="0"/>
              </a:spcBef>
            </a:pPr>
            <a:r>
              <a:rPr lang="en-US" b="true" sz="3000" spc="-60">
                <a:solidFill>
                  <a:srgbClr val="FFFFFF"/>
                </a:solidFill>
                <a:latin typeface="Montserrat Bold"/>
                <a:ea typeface="Montserrat Bold"/>
                <a:cs typeface="Montserrat Bold"/>
                <a:sym typeface="Montserrat Bold"/>
              </a:rPr>
              <a:t>Front end </a:t>
            </a:r>
            <a:r>
              <a:rPr lang="en-US" sz="3000" spc="-60">
                <a:solidFill>
                  <a:srgbClr val="FFFFFF"/>
                </a:solidFill>
                <a:latin typeface="Montserrat"/>
                <a:ea typeface="Montserrat"/>
                <a:cs typeface="Montserrat"/>
                <a:sym typeface="Montserrat"/>
              </a:rPr>
              <a:t>— </a:t>
            </a:r>
            <a:r>
              <a:rPr lang="en-US" sz="3000" i="true" spc="-60">
                <a:solidFill>
                  <a:srgbClr val="FFFFFF"/>
                </a:solidFill>
                <a:latin typeface="Montserrat Italics"/>
                <a:ea typeface="Montserrat Italics"/>
                <a:cs typeface="Montserrat Italics"/>
                <a:sym typeface="Montserrat Italics"/>
              </a:rPr>
              <a:t>front_end-service </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Build: </a:t>
            </a:r>
            <a:r>
              <a:rPr lang="en-US" sz="2499" i="true" spc="-49">
                <a:solidFill>
                  <a:srgbClr val="FFFFFF"/>
                </a:solidFill>
                <a:latin typeface="Montserrat Italics"/>
                <a:ea typeface="Montserrat Italics"/>
                <a:cs typeface="Montserrat Italics"/>
                <a:sym typeface="Montserrat Italics"/>
              </a:rPr>
              <a:t>built from Dockerfile.front</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Port: </a:t>
            </a:r>
            <a:r>
              <a:rPr lang="en-US" sz="2499" i="true" spc="-49">
                <a:solidFill>
                  <a:srgbClr val="FFFFFF"/>
                </a:solidFill>
                <a:latin typeface="Montserrat Italics"/>
                <a:ea typeface="Montserrat Italics"/>
                <a:cs typeface="Montserrat Italics"/>
                <a:sym typeface="Montserrat Italics"/>
              </a:rPr>
              <a:t>3000:3000</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Depend</a:t>
            </a:r>
            <a:r>
              <a:rPr lang="en-US" sz="2499" spc="-49">
                <a:solidFill>
                  <a:srgbClr val="FFFFFF"/>
                </a:solidFill>
                <a:latin typeface="Montserrat"/>
                <a:ea typeface="Montserrat"/>
                <a:cs typeface="Montserrat"/>
                <a:sym typeface="Montserrat"/>
              </a:rPr>
              <a:t>s</a:t>
            </a:r>
            <a:r>
              <a:rPr lang="en-US" sz="2499" spc="-49">
                <a:solidFill>
                  <a:srgbClr val="FFFFFF"/>
                </a:solidFill>
                <a:latin typeface="Montserrat"/>
                <a:ea typeface="Montserrat"/>
                <a:cs typeface="Montserrat"/>
                <a:sym typeface="Montserrat"/>
              </a:rPr>
              <a:t>_on:</a:t>
            </a:r>
            <a:r>
              <a:rPr lang="en-US" sz="2499" i="true" spc="-49">
                <a:solidFill>
                  <a:srgbClr val="FFFFFF"/>
                </a:solidFill>
                <a:latin typeface="Montserrat Italics"/>
                <a:ea typeface="Montserrat Italics"/>
                <a:cs typeface="Montserrat Italics"/>
                <a:sym typeface="Montserrat Italics"/>
              </a:rPr>
              <a:t> back-end, authentication</a:t>
            </a:r>
          </a:p>
          <a:p>
            <a:pPr algn="just" marL="539749" indent="-269875" lvl="1">
              <a:lnSpc>
                <a:spcPts val="2824"/>
              </a:lnSpc>
              <a:spcBef>
                <a:spcPct val="0"/>
              </a:spcBef>
              <a:buFont typeface="Arial"/>
              <a:buChar char="•"/>
            </a:pPr>
            <a:r>
              <a:rPr lang="en-US" sz="2499" spc="-49">
                <a:solidFill>
                  <a:srgbClr val="FFFFFF"/>
                </a:solidFill>
                <a:latin typeface="Montserrat"/>
                <a:ea typeface="Montserrat"/>
                <a:cs typeface="Montserrat"/>
                <a:sym typeface="Montserrat"/>
              </a:rPr>
              <a:t>Description: </a:t>
            </a:r>
            <a:r>
              <a:rPr lang="en-US" sz="2499" i="true" spc="-49">
                <a:solidFill>
                  <a:srgbClr val="FFFFFF"/>
                </a:solidFill>
                <a:latin typeface="Montserrat Italics"/>
                <a:ea typeface="Montserrat Italics"/>
                <a:cs typeface="Montserrat Italics"/>
                <a:sym typeface="Montserrat Italics"/>
              </a:rPr>
              <a:t>provides the user interface and interacts with backend REST APIs</a:t>
            </a:r>
          </a:p>
          <a:p>
            <a:pPr algn="just">
              <a:lnSpc>
                <a:spcPts val="2824"/>
              </a:lnSpc>
              <a:spcBef>
                <a:spcPct val="0"/>
              </a:spcBef>
            </a:pPr>
          </a:p>
        </p:txBody>
      </p:sp>
      <p:sp>
        <p:nvSpPr>
          <p:cNvPr name="AutoShape 8" id="8"/>
          <p:cNvSpPr/>
          <p:nvPr/>
        </p:nvSpPr>
        <p:spPr>
          <a:xfrm>
            <a:off x="1731729" y="8206551"/>
            <a:ext cx="2697822" cy="0"/>
          </a:xfrm>
          <a:prstGeom prst="line">
            <a:avLst/>
          </a:prstGeom>
          <a:ln cap="rnd" w="28575">
            <a:solidFill>
              <a:srgbClr val="FFFFFF"/>
            </a:solidFill>
            <a:prstDash val="solid"/>
            <a:headEnd type="none" len="sm" w="sm"/>
            <a:tailEnd type="none" len="sm" w="sm"/>
          </a:ln>
        </p:spPr>
      </p:sp>
      <p:sp>
        <p:nvSpPr>
          <p:cNvPr name="Freeform 9" id="9"/>
          <p:cNvSpPr/>
          <p:nvPr/>
        </p:nvSpPr>
        <p:spPr>
          <a:xfrm flipH="false" flipV="false" rot="0">
            <a:off x="1293271" y="803011"/>
            <a:ext cx="1463309" cy="1703998"/>
          </a:xfrm>
          <a:custGeom>
            <a:avLst/>
            <a:gdLst/>
            <a:ahLst/>
            <a:cxnLst/>
            <a:rect r="r" b="b" t="t" l="l"/>
            <a:pathLst>
              <a:path h="1703998" w="1463309">
                <a:moveTo>
                  <a:pt x="0" y="0"/>
                </a:moveTo>
                <a:lnTo>
                  <a:pt x="1463309" y="0"/>
                </a:lnTo>
                <a:lnTo>
                  <a:pt x="1463309" y="1703999"/>
                </a:lnTo>
                <a:lnTo>
                  <a:pt x="0" y="17039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5681594" y="7554302"/>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0915103" y="1031151"/>
            <a:ext cx="6344197" cy="679960"/>
          </a:xfrm>
          <a:prstGeom prst="rect">
            <a:avLst/>
          </a:prstGeom>
        </p:spPr>
        <p:txBody>
          <a:bodyPr anchor="t" rtlCol="false" tIns="0" lIns="0" bIns="0" rIns="0">
            <a:spAutoFit/>
          </a:bodyPr>
          <a:lstStyle/>
          <a:p>
            <a:pPr algn="l">
              <a:lnSpc>
                <a:spcPts val="5196"/>
              </a:lnSpc>
            </a:pPr>
            <a:r>
              <a:rPr lang="en-US" b="true" sz="5302" spc="-106">
                <a:solidFill>
                  <a:srgbClr val="FFFFFF"/>
                </a:solidFill>
                <a:latin typeface="Montserrat Ultra-Bold"/>
                <a:ea typeface="Montserrat Ultra-Bold"/>
                <a:cs typeface="Montserrat Ultra-Bold"/>
                <a:sym typeface="Montserrat Ultra-Bold"/>
              </a:rPr>
              <a:t>DOCKERIZATION</a:t>
            </a:r>
          </a:p>
        </p:txBody>
      </p:sp>
      <p:sp>
        <p:nvSpPr>
          <p:cNvPr name="AutoShape 12" id="12"/>
          <p:cNvSpPr/>
          <p:nvPr/>
        </p:nvSpPr>
        <p:spPr>
          <a:xfrm>
            <a:off x="14561478" y="1988684"/>
            <a:ext cx="2697822" cy="0"/>
          </a:xfrm>
          <a:prstGeom prst="line">
            <a:avLst/>
          </a:prstGeom>
          <a:ln cap="rnd" w="28575">
            <a:solidFill>
              <a:srgbClr val="FFFFFF"/>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TextBox 2" id="2"/>
          <p:cNvSpPr txBox="true"/>
          <p:nvPr/>
        </p:nvSpPr>
        <p:spPr>
          <a:xfrm rot="0">
            <a:off x="12538858" y="236514"/>
            <a:ext cx="5102156" cy="1187756"/>
          </a:xfrm>
          <a:prstGeom prst="rect">
            <a:avLst/>
          </a:prstGeom>
        </p:spPr>
        <p:txBody>
          <a:bodyPr anchor="t" rtlCol="false" tIns="0" lIns="0" bIns="0" rIns="0">
            <a:spAutoFit/>
          </a:bodyPr>
          <a:lstStyle/>
          <a:p>
            <a:pPr algn="l">
              <a:lnSpc>
                <a:spcPts val="4576"/>
              </a:lnSpc>
            </a:pPr>
            <a:r>
              <a:rPr lang="en-US" b="true" sz="4670" spc="-93">
                <a:solidFill>
                  <a:srgbClr val="FFFFFF"/>
                </a:solidFill>
                <a:latin typeface="Montserrat Ultra-Bold"/>
                <a:ea typeface="Montserrat Ultra-Bold"/>
                <a:cs typeface="Montserrat Ultra-Bold"/>
                <a:sym typeface="Montserrat Ultra-Bold"/>
              </a:rPr>
              <a:t>FRONT-END MOCKUP</a:t>
            </a:r>
          </a:p>
        </p:txBody>
      </p:sp>
      <p:sp>
        <p:nvSpPr>
          <p:cNvPr name="Freeform 3" id="3"/>
          <p:cNvSpPr/>
          <p:nvPr/>
        </p:nvSpPr>
        <p:spPr>
          <a:xfrm flipH="false" flipV="false" rot="0">
            <a:off x="1609680" y="949046"/>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381583" y="7575158"/>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rot="0">
            <a:off x="12372216" y="1409982"/>
            <a:ext cx="5268798" cy="0"/>
          </a:xfrm>
          <a:prstGeom prst="line">
            <a:avLst/>
          </a:prstGeom>
          <a:ln cap="rnd" w="28575">
            <a:solidFill>
              <a:srgbClr val="FFFFFF"/>
            </a:solidFill>
            <a:prstDash val="solid"/>
            <a:headEnd type="none" len="sm" w="sm"/>
            <a:tailEnd type="none" len="sm" w="sm"/>
          </a:ln>
        </p:spPr>
      </p:sp>
      <p:sp>
        <p:nvSpPr>
          <p:cNvPr name="AutoShape 6" id="6"/>
          <p:cNvSpPr/>
          <p:nvPr/>
        </p:nvSpPr>
        <p:spPr>
          <a:xfrm rot="0">
            <a:off x="2041466" y="9560496"/>
            <a:ext cx="5268798" cy="0"/>
          </a:xfrm>
          <a:prstGeom prst="line">
            <a:avLst/>
          </a:prstGeom>
          <a:ln cap="rnd" w="28575">
            <a:solidFill>
              <a:srgbClr val="FFFFFF"/>
            </a:solidFill>
            <a:prstDash val="solid"/>
            <a:headEnd type="none" len="sm" w="sm"/>
            <a:tailEnd type="none" len="sm" w="sm"/>
          </a:ln>
        </p:spPr>
      </p:sp>
      <p:sp>
        <p:nvSpPr>
          <p:cNvPr name="Freeform 7" id="7"/>
          <p:cNvSpPr/>
          <p:nvPr/>
        </p:nvSpPr>
        <p:spPr>
          <a:xfrm flipH="false" flipV="false" rot="0">
            <a:off x="807037" y="1284724"/>
            <a:ext cx="11210651" cy="7973576"/>
          </a:xfrm>
          <a:custGeom>
            <a:avLst/>
            <a:gdLst/>
            <a:ahLst/>
            <a:cxnLst/>
            <a:rect r="r" b="b" t="t" l="l"/>
            <a:pathLst>
              <a:path h="7973576" w="11210651">
                <a:moveTo>
                  <a:pt x="0" y="0"/>
                </a:moveTo>
                <a:lnTo>
                  <a:pt x="11210651" y="0"/>
                </a:lnTo>
                <a:lnTo>
                  <a:pt x="11210651" y="7973576"/>
                </a:lnTo>
                <a:lnTo>
                  <a:pt x="0" y="7973576"/>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TextBox 2" id="2"/>
          <p:cNvSpPr txBox="true"/>
          <p:nvPr/>
        </p:nvSpPr>
        <p:spPr>
          <a:xfrm rot="0">
            <a:off x="9491293" y="612829"/>
            <a:ext cx="7507428" cy="796259"/>
          </a:xfrm>
          <a:prstGeom prst="rect">
            <a:avLst/>
          </a:prstGeom>
        </p:spPr>
        <p:txBody>
          <a:bodyPr anchor="t" rtlCol="false" tIns="0" lIns="0" bIns="0" rIns="0">
            <a:spAutoFit/>
          </a:bodyPr>
          <a:lstStyle/>
          <a:p>
            <a:pPr algn="l">
              <a:lnSpc>
                <a:spcPts val="5948"/>
              </a:lnSpc>
            </a:pPr>
            <a:r>
              <a:rPr lang="en-US" b="true" sz="6070" spc="-121">
                <a:solidFill>
                  <a:srgbClr val="FFFFFF"/>
                </a:solidFill>
                <a:latin typeface="Montserrat Ultra-Bold"/>
                <a:ea typeface="Montserrat Ultra-Bold"/>
                <a:cs typeface="Montserrat Ultra-Bold"/>
                <a:sym typeface="Montserrat Ultra-Bold"/>
              </a:rPr>
              <a:t>FUNCTION POINTS</a:t>
            </a:r>
          </a:p>
        </p:txBody>
      </p:sp>
      <p:sp>
        <p:nvSpPr>
          <p:cNvPr name="Freeform 3" id="3"/>
          <p:cNvSpPr/>
          <p:nvPr/>
        </p:nvSpPr>
        <p:spPr>
          <a:xfrm flipH="false" flipV="false" rot="0">
            <a:off x="1609680" y="949046"/>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rot="0">
            <a:off x="1028700" y="9508639"/>
            <a:ext cx="2697822" cy="0"/>
          </a:xfrm>
          <a:prstGeom prst="line">
            <a:avLst/>
          </a:prstGeom>
          <a:ln cap="rnd" w="28575">
            <a:solidFill>
              <a:srgbClr val="FFFFFF"/>
            </a:solidFill>
            <a:prstDash val="solid"/>
            <a:headEnd type="none" len="sm" w="sm"/>
            <a:tailEnd type="none" len="sm" w="sm"/>
          </a:ln>
        </p:spPr>
      </p:sp>
      <p:sp>
        <p:nvSpPr>
          <p:cNvPr name="AutoShape 5" id="5"/>
          <p:cNvSpPr/>
          <p:nvPr/>
        </p:nvSpPr>
        <p:spPr>
          <a:xfrm rot="0">
            <a:off x="14561478" y="1416501"/>
            <a:ext cx="2697822" cy="0"/>
          </a:xfrm>
          <a:prstGeom prst="line">
            <a:avLst/>
          </a:prstGeom>
          <a:ln cap="rnd" w="28575">
            <a:solidFill>
              <a:srgbClr val="FFFFFF"/>
            </a:solidFill>
            <a:prstDash val="solid"/>
            <a:headEnd type="none" len="sm" w="sm"/>
            <a:tailEnd type="none" len="sm" w="sm"/>
          </a:ln>
        </p:spPr>
      </p:sp>
      <p:graphicFrame>
        <p:nvGraphicFramePr>
          <p:cNvPr name="Table 6" id="6"/>
          <p:cNvGraphicFramePr>
            <a:graphicFrameLocks noGrp="true"/>
          </p:cNvGraphicFramePr>
          <p:nvPr/>
        </p:nvGraphicFramePr>
        <p:xfrm>
          <a:off x="3726522" y="1818323"/>
          <a:ext cx="13272199" cy="7201236"/>
        </p:xfrm>
        <a:graphic>
          <a:graphicData uri="http://schemas.openxmlformats.org/drawingml/2006/table">
            <a:tbl>
              <a:tblPr/>
              <a:tblGrid>
                <a:gridCol w="2654440"/>
                <a:gridCol w="2654440"/>
                <a:gridCol w="2654440"/>
                <a:gridCol w="2622395"/>
                <a:gridCol w="2686484"/>
              </a:tblGrid>
              <a:tr h="1704499">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Section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E6E6E6"/>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Type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E6E6E6"/>
                    </a:solidFill>
                  </a:tcPr>
                </a:tc>
                <a:tc>
                  <a:txBody>
                    <a:bodyPr anchor="t" rtlCol="false"/>
                    <a:lstStyle/>
                    <a:p>
                      <a:pPr algn="l">
                        <a:lnSpc>
                          <a:spcPts val="1679"/>
                        </a:lnSpc>
                        <a:defRPr/>
                      </a:pPr>
                      <a:r>
                        <a:rPr lang="en-US" sz="1200">
                          <a:solidFill>
                            <a:srgbClr val="000000"/>
                          </a:solidFill>
                          <a:latin typeface="Arimo"/>
                          <a:ea typeface="Arimo"/>
                          <a:cs typeface="Arimo"/>
                          <a:sym typeface="Arimo"/>
                        </a:rPr>
                        <a:t>Complexity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E6E6E6"/>
                    </a:solidFill>
                  </a:tcPr>
                </a:tc>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Count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E6E6E6"/>
                    </a:solidFill>
                  </a:tcPr>
                </a:tc>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FP</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E6E6E6"/>
                    </a:solidFill>
                  </a:tcPr>
                </a:tc>
              </a:tr>
              <a:tr h="785204">
                <a:tc>
                  <a:txBody>
                    <a:bodyPr anchor="t" rtlCol="false"/>
                    <a:lstStyle/>
                    <a:p>
                      <a:pPr algn="ctr">
                        <a:lnSpc>
                          <a:spcPts val="2520"/>
                        </a:lnSpc>
                        <a:defRPr/>
                      </a:pPr>
                      <a:r>
                        <a:rPr lang="en-US" sz="1800">
                          <a:solidFill>
                            <a:srgbClr val="FFFFFF"/>
                          </a:solidFill>
                          <a:latin typeface="Montserrat"/>
                          <a:ea typeface="Montserrat"/>
                          <a:cs typeface="Montserrat"/>
                          <a:sym typeface="Montserrat"/>
                        </a:rPr>
                        <a:t>Summary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EI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Low</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18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85204">
                <a:tc>
                  <a:txBody>
                    <a:bodyPr anchor="t" rtlCol="false"/>
                    <a:lstStyle/>
                    <a:p>
                      <a:pPr algn="ctr">
                        <a:lnSpc>
                          <a:spcPts val="2610"/>
                        </a:lnSpc>
                        <a:defRPr/>
                      </a:pPr>
                      <a:r>
                        <a:rPr lang="en-US" sz="1800">
                          <a:solidFill>
                            <a:srgbClr val="FFFFFF"/>
                          </a:solidFill>
                          <a:latin typeface="Montserrat"/>
                          <a:ea typeface="Montserrat"/>
                          <a:cs typeface="Montserrat"/>
                          <a:sym typeface="Montserrat"/>
                        </a:rPr>
                        <a:t>Summary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EI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Average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20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85511">
                <a:tc>
                  <a:txBody>
                    <a:bodyPr anchor="t" rtlCol="false"/>
                    <a:lstStyle/>
                    <a:p>
                      <a:pPr algn="ctr">
                        <a:lnSpc>
                          <a:spcPts val="2520"/>
                        </a:lnSpc>
                        <a:defRPr/>
                      </a:pPr>
                      <a:r>
                        <a:rPr lang="en-US" sz="1800">
                          <a:solidFill>
                            <a:srgbClr val="FFFFFF"/>
                          </a:solidFill>
                          <a:latin typeface="Montserrat"/>
                          <a:ea typeface="Montserrat"/>
                          <a:cs typeface="Montserrat"/>
                          <a:sym typeface="Montserrat"/>
                        </a:rPr>
                        <a:t>Summary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EO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Low</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85204">
                <a:tc>
                  <a:txBody>
                    <a:bodyPr anchor="t" rtlCol="false"/>
                    <a:lstStyle/>
                    <a:p>
                      <a:pPr algn="ctr">
                        <a:lnSpc>
                          <a:spcPts val="2520"/>
                        </a:lnSpc>
                        <a:defRPr/>
                      </a:pPr>
                      <a:r>
                        <a:rPr lang="en-US" sz="1800">
                          <a:solidFill>
                            <a:srgbClr val="FFFFFF"/>
                          </a:solidFill>
                          <a:latin typeface="Montserrat"/>
                          <a:ea typeface="Montserrat"/>
                          <a:cs typeface="Montserrat"/>
                          <a:sym typeface="Montserrat"/>
                        </a:rPr>
                        <a:t>Summary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EO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Average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85204">
                <a:tc>
                  <a:txBody>
                    <a:bodyPr anchor="t" rtlCol="false"/>
                    <a:lstStyle/>
                    <a:p>
                      <a:pPr algn="ctr">
                        <a:lnSpc>
                          <a:spcPts val="2520"/>
                        </a:lnSpc>
                        <a:defRPr/>
                      </a:pPr>
                      <a:r>
                        <a:rPr lang="en-US" sz="1800">
                          <a:solidFill>
                            <a:srgbClr val="FFFFFF"/>
                          </a:solidFill>
                          <a:latin typeface="Montserrat"/>
                          <a:ea typeface="Montserrat"/>
                          <a:cs typeface="Montserrat"/>
                          <a:sym typeface="Montserrat"/>
                        </a:rPr>
                        <a:t>Summary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EQ</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Low</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85204">
                <a:tc>
                  <a:txBody>
                    <a:bodyPr anchor="t" rtlCol="false"/>
                    <a:lstStyle/>
                    <a:p>
                      <a:pPr algn="ctr">
                        <a:lnSpc>
                          <a:spcPts val="2520"/>
                        </a:lnSpc>
                        <a:defRPr/>
                      </a:pPr>
                      <a:r>
                        <a:rPr lang="en-US" sz="1800">
                          <a:solidFill>
                            <a:srgbClr val="FFFFFF"/>
                          </a:solidFill>
                          <a:latin typeface="Montserrat"/>
                          <a:ea typeface="Montserrat"/>
                          <a:cs typeface="Montserrat"/>
                          <a:sym typeface="Montserrat"/>
                        </a:rPr>
                        <a:t>Summary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EQ</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Average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16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85204">
                <a:tc>
                  <a:txBody>
                    <a:bodyPr anchor="t" rtlCol="false"/>
                    <a:lstStyle/>
                    <a:p>
                      <a:pPr algn="ctr">
                        <a:lnSpc>
                          <a:spcPts val="2520"/>
                        </a:lnSpc>
                        <a:defRPr/>
                      </a:pPr>
                      <a:r>
                        <a:rPr lang="en-US" sz="1800">
                          <a:solidFill>
                            <a:srgbClr val="FFFFFF"/>
                          </a:solidFill>
                          <a:latin typeface="Montserrat"/>
                          <a:ea typeface="Montserrat"/>
                          <a:cs typeface="Montserrat"/>
                          <a:sym typeface="Montserrat"/>
                        </a:rPr>
                        <a:t>Summary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ILF</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Low</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Montserrat"/>
                          <a:ea typeface="Montserrat"/>
                          <a:cs typeface="Montserrat"/>
                          <a:sym typeface="Montserrat"/>
                        </a:rPr>
                        <a:t>42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7" id="7"/>
          <p:cNvSpPr txBox="true"/>
          <p:nvPr/>
        </p:nvSpPr>
        <p:spPr>
          <a:xfrm rot="0">
            <a:off x="14947572" y="9324360"/>
            <a:ext cx="2051149" cy="596901"/>
          </a:xfrm>
          <a:prstGeom prst="rect">
            <a:avLst/>
          </a:prstGeom>
        </p:spPr>
        <p:txBody>
          <a:bodyPr anchor="t" rtlCol="false" tIns="0" lIns="0" bIns="0" rIns="0">
            <a:spAutoFit/>
          </a:bodyPr>
          <a:lstStyle/>
          <a:p>
            <a:pPr algn="ctr">
              <a:lnSpc>
                <a:spcPts val="4899"/>
              </a:lnSpc>
              <a:spcBef>
                <a:spcPct val="0"/>
              </a:spcBef>
            </a:pPr>
            <a:r>
              <a:rPr lang="en-US" sz="3499" spc="-69">
                <a:solidFill>
                  <a:srgbClr val="FFFFFF"/>
                </a:solidFill>
                <a:latin typeface="Montserrat"/>
                <a:ea typeface="Montserrat"/>
                <a:cs typeface="Montserrat"/>
                <a:sym typeface="Montserrat"/>
              </a:rPr>
              <a:t>TOTAL: 111</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TextBox 2" id="2"/>
          <p:cNvSpPr txBox="true"/>
          <p:nvPr/>
        </p:nvSpPr>
        <p:spPr>
          <a:xfrm rot="0">
            <a:off x="12279321" y="612829"/>
            <a:ext cx="7262135" cy="796259"/>
          </a:xfrm>
          <a:prstGeom prst="rect">
            <a:avLst/>
          </a:prstGeom>
        </p:spPr>
        <p:txBody>
          <a:bodyPr anchor="t" rtlCol="false" tIns="0" lIns="0" bIns="0" rIns="0">
            <a:spAutoFit/>
          </a:bodyPr>
          <a:lstStyle/>
          <a:p>
            <a:pPr algn="l">
              <a:lnSpc>
                <a:spcPts val="5948"/>
              </a:lnSpc>
            </a:pPr>
            <a:r>
              <a:rPr lang="en-US" b="true" sz="6070" spc="-121">
                <a:solidFill>
                  <a:srgbClr val="FFFFFF"/>
                </a:solidFill>
                <a:latin typeface="Montserrat Ultra-Bold"/>
                <a:ea typeface="Montserrat Ultra-Bold"/>
                <a:cs typeface="Montserrat Ultra-Bold"/>
                <a:sym typeface="Montserrat Ultra-Bold"/>
              </a:rPr>
              <a:t>COCOMO II</a:t>
            </a:r>
          </a:p>
        </p:txBody>
      </p:sp>
      <p:sp>
        <p:nvSpPr>
          <p:cNvPr name="Freeform 3" id="3"/>
          <p:cNvSpPr/>
          <p:nvPr/>
        </p:nvSpPr>
        <p:spPr>
          <a:xfrm flipH="false" flipV="false" rot="0">
            <a:off x="1609680" y="949046"/>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509474" y="7554302"/>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260769" y="9459383"/>
            <a:ext cx="2697822" cy="0"/>
          </a:xfrm>
          <a:prstGeom prst="line">
            <a:avLst/>
          </a:prstGeom>
          <a:ln cap="rnd" w="28575">
            <a:solidFill>
              <a:srgbClr val="FFFFFF"/>
            </a:solidFill>
            <a:prstDash val="solid"/>
            <a:headEnd type="none" len="sm" w="sm"/>
            <a:tailEnd type="none" len="sm" w="sm"/>
          </a:ln>
        </p:spPr>
      </p:sp>
      <p:sp>
        <p:nvSpPr>
          <p:cNvPr name="AutoShape 6" id="6"/>
          <p:cNvSpPr/>
          <p:nvPr/>
        </p:nvSpPr>
        <p:spPr>
          <a:xfrm rot="0">
            <a:off x="14561478" y="1416501"/>
            <a:ext cx="2697822" cy="0"/>
          </a:xfrm>
          <a:prstGeom prst="line">
            <a:avLst/>
          </a:prstGeom>
          <a:ln cap="rnd" w="28575">
            <a:solidFill>
              <a:srgbClr val="FFFFFF"/>
            </a:solidFill>
            <a:prstDash val="solid"/>
            <a:headEnd type="none" len="sm" w="sm"/>
            <a:tailEnd type="none" len="sm" w="sm"/>
          </a:ln>
        </p:spPr>
      </p:sp>
      <p:sp>
        <p:nvSpPr>
          <p:cNvPr name="Freeform 7" id="7"/>
          <p:cNvSpPr/>
          <p:nvPr/>
        </p:nvSpPr>
        <p:spPr>
          <a:xfrm flipH="false" flipV="false" rot="0">
            <a:off x="11982866" y="3171371"/>
            <a:ext cx="4552873" cy="5860867"/>
          </a:xfrm>
          <a:custGeom>
            <a:avLst/>
            <a:gdLst/>
            <a:ahLst/>
            <a:cxnLst/>
            <a:rect r="r" b="b" t="t" l="l"/>
            <a:pathLst>
              <a:path h="5860867" w="4552873">
                <a:moveTo>
                  <a:pt x="0" y="0"/>
                </a:moveTo>
                <a:lnTo>
                  <a:pt x="4552873" y="0"/>
                </a:lnTo>
                <a:lnTo>
                  <a:pt x="4552873" y="5860867"/>
                </a:lnTo>
                <a:lnTo>
                  <a:pt x="0" y="5860867"/>
                </a:lnTo>
                <a:lnTo>
                  <a:pt x="0" y="0"/>
                </a:lnTo>
                <a:close/>
              </a:path>
            </a:pathLst>
          </a:custGeom>
          <a:blipFill>
            <a:blip r:embed="rId4"/>
            <a:stretch>
              <a:fillRect l="-843" t="0" r="-151566" b="0"/>
            </a:stretch>
          </a:blipFill>
        </p:spPr>
      </p:sp>
      <p:sp>
        <p:nvSpPr>
          <p:cNvPr name="Freeform 8" id="8"/>
          <p:cNvSpPr/>
          <p:nvPr/>
        </p:nvSpPr>
        <p:spPr>
          <a:xfrm flipH="false" flipV="false" rot="0">
            <a:off x="1243908" y="3579232"/>
            <a:ext cx="10309119" cy="5141673"/>
          </a:xfrm>
          <a:custGeom>
            <a:avLst/>
            <a:gdLst/>
            <a:ahLst/>
            <a:cxnLst/>
            <a:rect r="r" b="b" t="t" l="l"/>
            <a:pathLst>
              <a:path h="5141673" w="10309119">
                <a:moveTo>
                  <a:pt x="0" y="0"/>
                </a:moveTo>
                <a:lnTo>
                  <a:pt x="10309120" y="0"/>
                </a:lnTo>
                <a:lnTo>
                  <a:pt x="10309120" y="5141674"/>
                </a:lnTo>
                <a:lnTo>
                  <a:pt x="0" y="5141674"/>
                </a:lnTo>
                <a:lnTo>
                  <a:pt x="0" y="0"/>
                </a:lnTo>
                <a:close/>
              </a:path>
            </a:pathLst>
          </a:custGeom>
          <a:blipFill>
            <a:blip r:embed="rId5"/>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Freeform 2" id="2"/>
          <p:cNvSpPr/>
          <p:nvPr/>
        </p:nvSpPr>
        <p:spPr>
          <a:xfrm flipH="false" flipV="false" rot="0">
            <a:off x="1609680" y="949046"/>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81583" y="7575158"/>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rot="0">
            <a:off x="12372216" y="1409982"/>
            <a:ext cx="5268798" cy="0"/>
          </a:xfrm>
          <a:prstGeom prst="line">
            <a:avLst/>
          </a:prstGeom>
          <a:ln cap="rnd" w="28575">
            <a:solidFill>
              <a:srgbClr val="FFFFFF"/>
            </a:solidFill>
            <a:prstDash val="solid"/>
            <a:headEnd type="none" len="sm" w="sm"/>
            <a:tailEnd type="none" len="sm" w="sm"/>
          </a:ln>
        </p:spPr>
      </p:sp>
      <p:sp>
        <p:nvSpPr>
          <p:cNvPr name="AutoShape 5" id="5"/>
          <p:cNvSpPr/>
          <p:nvPr/>
        </p:nvSpPr>
        <p:spPr>
          <a:xfrm rot="0">
            <a:off x="2041466" y="9560496"/>
            <a:ext cx="5268798" cy="0"/>
          </a:xfrm>
          <a:prstGeom prst="line">
            <a:avLst/>
          </a:prstGeom>
          <a:ln cap="rnd" w="28575">
            <a:solidFill>
              <a:srgbClr val="FFFFFF"/>
            </a:solidFill>
            <a:prstDash val="solid"/>
            <a:headEnd type="none" len="sm" w="sm"/>
            <a:tailEnd type="none" len="sm" w="sm"/>
          </a:ln>
        </p:spPr>
      </p:sp>
      <p:sp>
        <p:nvSpPr>
          <p:cNvPr name="Freeform 6" id="6"/>
          <p:cNvSpPr/>
          <p:nvPr/>
        </p:nvSpPr>
        <p:spPr>
          <a:xfrm flipH="false" flipV="false" rot="0">
            <a:off x="600573" y="3520808"/>
            <a:ext cx="12078931" cy="5737492"/>
          </a:xfrm>
          <a:custGeom>
            <a:avLst/>
            <a:gdLst/>
            <a:ahLst/>
            <a:cxnLst/>
            <a:rect r="r" b="b" t="t" l="l"/>
            <a:pathLst>
              <a:path h="5737492" w="12078931">
                <a:moveTo>
                  <a:pt x="0" y="0"/>
                </a:moveTo>
                <a:lnTo>
                  <a:pt x="12078931" y="0"/>
                </a:lnTo>
                <a:lnTo>
                  <a:pt x="12078931" y="5737492"/>
                </a:lnTo>
                <a:lnTo>
                  <a:pt x="0" y="5737492"/>
                </a:lnTo>
                <a:lnTo>
                  <a:pt x="0" y="0"/>
                </a:lnTo>
                <a:close/>
              </a:path>
            </a:pathLst>
          </a:custGeom>
          <a:blipFill>
            <a:blip r:embed="rId4"/>
            <a:stretch>
              <a:fillRect l="0" t="0" r="0" b="0"/>
            </a:stretch>
          </a:blipFill>
        </p:spPr>
      </p:sp>
      <p:sp>
        <p:nvSpPr>
          <p:cNvPr name="TextBox 7" id="7"/>
          <p:cNvSpPr txBox="true"/>
          <p:nvPr/>
        </p:nvSpPr>
        <p:spPr>
          <a:xfrm rot="0">
            <a:off x="12679504" y="1811051"/>
            <a:ext cx="5102156" cy="1546748"/>
          </a:xfrm>
          <a:prstGeom prst="rect">
            <a:avLst/>
          </a:prstGeom>
        </p:spPr>
        <p:txBody>
          <a:bodyPr anchor="t" rtlCol="false" tIns="0" lIns="0" bIns="0" rIns="0">
            <a:spAutoFit/>
          </a:bodyPr>
          <a:lstStyle/>
          <a:p>
            <a:pPr algn="l">
              <a:lnSpc>
                <a:spcPts val="5948"/>
              </a:lnSpc>
            </a:pPr>
            <a:r>
              <a:rPr lang="en-US" b="true" sz="6070" spc="-121">
                <a:solidFill>
                  <a:srgbClr val="FFFFFF"/>
                </a:solidFill>
                <a:latin typeface="Montserrat Ultra-Bold"/>
                <a:ea typeface="Montserrat Ultra-Bold"/>
                <a:cs typeface="Montserrat Ultra-Bold"/>
                <a:sym typeface="Montserrat Ultra-Bold"/>
              </a:rPr>
              <a:t>SCRUM PLANNING</a:t>
            </a:r>
          </a:p>
        </p:txBody>
      </p:sp>
      <p:sp>
        <p:nvSpPr>
          <p:cNvPr name="TextBox 8" id="8"/>
          <p:cNvSpPr txBox="true"/>
          <p:nvPr/>
        </p:nvSpPr>
        <p:spPr>
          <a:xfrm rot="0">
            <a:off x="13312755" y="4380629"/>
            <a:ext cx="6265089" cy="1253490"/>
          </a:xfrm>
          <a:prstGeom prst="rect">
            <a:avLst/>
          </a:prstGeom>
        </p:spPr>
        <p:txBody>
          <a:bodyPr anchor="t" rtlCol="false" tIns="0" lIns="0" bIns="0" rIns="0">
            <a:spAutoFit/>
          </a:bodyPr>
          <a:lstStyle/>
          <a:p>
            <a:pPr algn="l">
              <a:lnSpc>
                <a:spcPts val="3360"/>
              </a:lnSpc>
            </a:pPr>
            <a:r>
              <a:rPr lang="en-US" sz="2400" spc="-48" b="true">
                <a:solidFill>
                  <a:srgbClr val="FFFFFF"/>
                </a:solidFill>
                <a:latin typeface="Arimo Bold"/>
                <a:ea typeface="Arimo Bold"/>
                <a:cs typeface="Arimo Bold"/>
                <a:sym typeface="Arimo Bold"/>
              </a:rPr>
              <a:t>Sprint length: 2 Weeks</a:t>
            </a:r>
          </a:p>
          <a:p>
            <a:pPr algn="l">
              <a:lnSpc>
                <a:spcPts val="3360"/>
              </a:lnSpc>
            </a:pPr>
            <a:r>
              <a:rPr lang="en-US" sz="2400" spc="-48" b="true">
                <a:solidFill>
                  <a:srgbClr val="FFFFFF"/>
                </a:solidFill>
                <a:latin typeface="Arimo Bold"/>
                <a:ea typeface="Arimo Bold"/>
                <a:cs typeface="Arimo Bold"/>
                <a:sym typeface="Arimo Bold"/>
              </a:rPr>
              <a:t>Project duration: 2 Months</a:t>
            </a:r>
          </a:p>
          <a:p>
            <a:pPr algn="l">
              <a:lnSpc>
                <a:spcPts val="3360"/>
              </a:lnSpc>
              <a:spcBef>
                <a:spcPct val="0"/>
              </a:spcBef>
            </a:pPr>
            <a:r>
              <a:rPr lang="en-US" b="true" sz="2400" spc="-48">
                <a:solidFill>
                  <a:srgbClr val="FFFFFF"/>
                </a:solidFill>
                <a:latin typeface="Arimo Bold"/>
                <a:ea typeface="Arimo Bold"/>
                <a:cs typeface="Arimo Bold"/>
                <a:sym typeface="Arimo Bold"/>
              </a:rPr>
              <a:t>Total Sprint Number: 4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C3848"/>
        </a:solidFill>
      </p:bgPr>
    </p:bg>
    <p:spTree>
      <p:nvGrpSpPr>
        <p:cNvPr id="1" name=""/>
        <p:cNvGrpSpPr/>
        <p:nvPr/>
      </p:nvGrpSpPr>
      <p:grpSpPr>
        <a:xfrm>
          <a:off x="0" y="0"/>
          <a:ext cx="0" cy="0"/>
          <a:chOff x="0" y="0"/>
          <a:chExt cx="0" cy="0"/>
        </a:xfrm>
      </p:grpSpPr>
      <p:sp>
        <p:nvSpPr>
          <p:cNvPr name="TextBox 2" id="2"/>
          <p:cNvSpPr txBox="true"/>
          <p:nvPr/>
        </p:nvSpPr>
        <p:spPr>
          <a:xfrm rot="0">
            <a:off x="5315469" y="4056794"/>
            <a:ext cx="7657062" cy="2297236"/>
          </a:xfrm>
          <a:prstGeom prst="rect">
            <a:avLst/>
          </a:prstGeom>
        </p:spPr>
        <p:txBody>
          <a:bodyPr anchor="t" rtlCol="false" tIns="0" lIns="0" bIns="0" rIns="0">
            <a:spAutoFit/>
          </a:bodyPr>
          <a:lstStyle/>
          <a:p>
            <a:pPr algn="l">
              <a:lnSpc>
                <a:spcPts val="5948"/>
              </a:lnSpc>
            </a:pPr>
            <a:r>
              <a:rPr lang="en-US" b="true" sz="6070" spc="-121">
                <a:solidFill>
                  <a:srgbClr val="FFFFFF"/>
                </a:solidFill>
                <a:latin typeface="Montserrat Ultra-Bold"/>
                <a:ea typeface="Montserrat Ultra-Bold"/>
                <a:cs typeface="Montserrat Ultra-Bold"/>
                <a:sym typeface="Montserrat Ultra-Bold"/>
              </a:rPr>
              <a:t>AND NOW LET’S TAKE A LOOK AT THE APPLICATION</a:t>
            </a:r>
          </a:p>
        </p:txBody>
      </p:sp>
      <p:sp>
        <p:nvSpPr>
          <p:cNvPr name="Freeform 3" id="3"/>
          <p:cNvSpPr/>
          <p:nvPr/>
        </p:nvSpPr>
        <p:spPr>
          <a:xfrm flipH="false" flipV="false" rot="0">
            <a:off x="1609680" y="949046"/>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509474" y="7554302"/>
            <a:ext cx="1463309" cy="1703998"/>
          </a:xfrm>
          <a:custGeom>
            <a:avLst/>
            <a:gdLst/>
            <a:ahLst/>
            <a:cxnLst/>
            <a:rect r="r" b="b" t="t" l="l"/>
            <a:pathLst>
              <a:path h="1703998" w="1463309">
                <a:moveTo>
                  <a:pt x="0" y="0"/>
                </a:moveTo>
                <a:lnTo>
                  <a:pt x="1463309" y="0"/>
                </a:lnTo>
                <a:lnTo>
                  <a:pt x="1463309" y="1703998"/>
                </a:lnTo>
                <a:lnTo>
                  <a:pt x="0" y="1703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rot="0">
            <a:off x="1028700" y="9508639"/>
            <a:ext cx="2697822" cy="0"/>
          </a:xfrm>
          <a:prstGeom prst="line">
            <a:avLst/>
          </a:prstGeom>
          <a:ln cap="rnd" w="28575">
            <a:solidFill>
              <a:srgbClr val="FFFFFF"/>
            </a:solidFill>
            <a:prstDash val="solid"/>
            <a:headEnd type="none" len="sm" w="sm"/>
            <a:tailEnd type="none" len="sm" w="sm"/>
          </a:ln>
        </p:spPr>
      </p:sp>
      <p:sp>
        <p:nvSpPr>
          <p:cNvPr name="AutoShape 6" id="6"/>
          <p:cNvSpPr/>
          <p:nvPr/>
        </p:nvSpPr>
        <p:spPr>
          <a:xfrm rot="0">
            <a:off x="14561478" y="1416501"/>
            <a:ext cx="2697822" cy="0"/>
          </a:xfrm>
          <a:prstGeom prst="line">
            <a:avLst/>
          </a:prstGeom>
          <a:ln cap="rnd" w="28575">
            <a:solidFill>
              <a:srgbClr val="FFFFFF"/>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DAG4N-qdG3Q</dc:identifier>
  <dcterms:modified xsi:type="dcterms:W3CDTF">2011-08-01T06:04:30Z</dcterms:modified>
  <cp:revision>1</cp:revision>
  <dc:title>Gray White Professional Strategic Marketing Presentation</dc:title>
</cp:coreProperties>
</file>